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ℕ ⊂ ℤ ⊂ ℚ ⊂ ℝ, y los irracionales completan ℝ.
• Cada real es un punto de la recta; a la izquierda significa menor.
• |a − b| es la distancia entre a y b.
El cálculo trabaja con números reales. Crecen por capas: los naturales (1, 2, 3, …) cuentan cosas; los enteros agregan el cero y los negativos; los racionales son todas las fracciones p/q con q ≠ 0, como 3/4 o −2,5; y los irracionales, como √2 o π, llenan los huecos que dejan las fracciones. Racionales e irracionales juntos forman los números reales, ℝ.
Cada número real es exactamente un punto de la recta numérica, y cada punto es un número real. La recta tiene un orden: a &lt; b significa que a está a la izquierda de b. Para dos números cualesquiera se cumple exactamente una cosa: a &lt; b, a = b o a &gt; b. Ese hecho simple es lo que hace posibles las desigualdades.
El valor absoluto |a| es la distancia de a a 0, por eso nunca es negativo: |−7| = 7 y |7| = 7. En general, |a − b| es la distancia entre a y b. Guarda esta imagen: convierte los problemas de valor absoluto en preguntas sobre distancias.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Pasa todo a un lado: P(x) = 0.
• El grado es la mayor potencia después de simplificar.
• Grado n significa como máximo n raíces reales; compruébalas sustituyendo.
Una ecuación afirma que dos expresiones son iguales. Si ambos lados son polinomios, puedes pasar todo a un lado y obtener P(x) = 0. El grado de la ecuación es la mayor potencia de x que queda después de simplificar: 4x³ − x + 2 = 0 tiene grado 3.
Una raíz (o cero) es un valor de x que hace verdadera la ecuación. Para comprobar un candidato, sustitúyelo: x = 2 es raíz de x³ − 2x² + x − 2 = 0 porque 8 − 8 + 2 − 2 = 0. Una ecuación de grado n tiene como máximo n raíces reales, así que una cuadrática nunca tiene tres.
Simplifica antes de decidir el grado. x² + 3x = x² − 5 parece cuadrática, pero los x² se cancelan y en realidad es 3x + 5 = 0, una ecuación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Lineal: una raíz, x = −b/a.
• Cuadrática: factoriza, despeja x² o usa la fórmula.
• Δ = b² − 4ac decide 2, 1 o 0 raíces reales; en problemas de texto descarta las raíces sin sentido.
Una ecuación lineal ax + b = 0 (a ≠ 0) tiene exactamente una raíz, x = −b/a. La mayoría de los problemas de texto se vuelven lineales cuando nombras la incógnita. Si alquilar una bicicleta cuesta 6 más 1,5 por hora y pagaste 15, entonces 6 + 1,5h = 15, así que h = 6 horas.
Una cuadrática ax² + bx + c = 0 se resuelve de tres formas. Si se factoriza, usa la regla del producto cero: (x − 2)(x + 7) = 0 significa x = 2 o x = −7. Si no hay término en x, despeja x²: x² = 49 da x = ±7. Si no, usa la fórmula x = (−b ± √(b² − 4ac)) / 2a.
El discriminante Δ = b² − 4ac te dice cuántas raíces reales esperar antes de calcularlas: dos si Δ &gt; 0, una (doble) si Δ = 0, ninguna si Δ &lt; 0. Un jardín 3 m más largo que ancho con área 40 m² da w(w + 3) = 40, así que w² + 3w − 40 = 0 = (w + 8)(w − 5); solo w = 5 tiene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Candidatos a raíz racional: ± (divisores del término independiente) / (divisores del coeficiente principal).
• Resto 0 en la división sintética significa que encontraste una raíz.
• Después de elevar al cuadrado o quitar denominadores, comprueba cada respuesta.
En un polinomio con coeficientes enteros, toda raíz racional p/q cumple que p divide al término independiente y q divide al coeficiente principal. Eso da una lista corta de candidatos. Para x³ − 2x² − 5x + 6 = 0 los candidatos son ±1, ±2, ±3, ±6, y x = 1 funciona.
Cuando conoces una raíz r, divide entre (x − r) con división sintética (regla de Ruffini). El cociente tiene un grado menos, y repites hasta llegar a una cuadrática que sepas resolver. Aquí el cociente es x² − x − 6 = (x − 3)(x + 2), así que las raíces son 1, 3 y −2.
Las ecuaciones con raíz, valor absoluto o x en un denominador necesitan un paso más: comprobar cada respuesta en la ecuación original. Elevar al cuadrado √(x + 7) = x − 5 da x² − 11x + 18 = 0, así que x = 9 o x = 2, pero solo x = 9 funciona; x = 2 es extraña. Y un valor que anula un denominador nunca es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 ] incluye el extremo, ( ) lo excluye; ∞ siempre lleva ( ).
• Punto relleno = incluido, punto hueco = excluido.
• "o" es una unión ∪; "y" es una intersección ∩.
Una desigualdad compara dos expresiones con &lt;, ≤, &gt; o ≥. Su solución casi nunca es un número, sino todo un conjunto, que dibujamos en la recta numérica y escribimos con intervalos.
Un corchete incluye el extremo y un paréntesis lo excluye: [2, 5] es 2 ≤ x ≤ 5, (2, 5) es 2 &lt; x &lt; 5 y [2, 5) es 2 ≤ x &lt; 5. En la recta, un punto relleno significa incluido y uno hueco, excluido. El infinito no es un número que se alcance, así que siempre lleva paréntesis: x ≥ 3 es [3, ∞).
Las soluciones en trozos separados se juntan con el símbolo de unión ∪: (−∞, −1) ∪ (4, ∞) significa "x &lt; −1 o x &gt; 4". Cuando dos condiciones deben cumplirse a la vez, quédate solo con la parte común, la intersección ∩. Todos los reales es ℝ = (−∞, ∞), y ninguna solución es el conjunto vacío 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Sumar, restar o multiplicar por un positivo: el signo se mantiene.
• Multiplicar o dividir por un negativo: invierte el signo.
• Comprueba un valor de tu respuesta en la desigualdad original.
Una desigualdad lineal se resuelve casi como una ecuación. Sumar o restar el mismo número en ambos lados mantiene la desigualdad. Multiplicar o dividir por un número positivo también. La única regla nueva: multiplicar o dividir por un número negativo invierte el signo. De −2 &lt; 3, multiplicar por −1 da 2 &gt; −3.
Ejemplo: 4 − 3x ≤ 10. Resta 4: −3x ≤ 6. Divide entre −3 e invierte: x ≥ −2, es decir [−2, ∞). Comprueba con x = 0: 4 ≤ 10 es verdadero, y 0 está en la respuesta. Una desigualdad doble como 1 ≤ 2x − 3 &lt; 7 se resuelve en las tres partes a la vez: 4 ≤ 2x &lt; 10, así que 2 ≤ x &lt; 5.
Las comparaciones de la vida diaria son desigualdades. Un gimnasio cobra 30 de inscripción más 2 por visita; otro cobra 5 por visita. El primero es más barato cuando 30 + 2v &lt; 5v, es decir 30 &lt; 3v, así que v &gt; 10 visitas.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Cero en un lado, factoriza, encuentra los puntos críticos, prueba un valor por intervalo.
• ≤ o ≥ incluyen los ceros del numerador; &lt; o &gt; los excluyen.
• Los ceros de un denominador siempre se excluyen.
Para todo lo que no sea lineal, usa una tabla de signos. Paso 1: pasa todo a un lado para que el otro sea 0. Paso 2: factoriza. Paso 3: encuentra los puntos críticos, donde un factor vale cero. Paso 4: estos dividen la recta en intervalos; en cada uno la expresión mantiene un solo signo, así que basta un valor de prueba por intervalo. Paso 5: quédate con los intervalos que tienen el signo que buscas.
Ejemplo: x² + x − 12 &gt; 0 se factoriza como (x + 4)(x − 3) &gt; 0. Puntos críticos −4 y 3. Prueba −5: (−1)(−8) &gt; 0 ✓. Prueba 0: (4)(−3) &lt; 0 ✗. Prueba 4: (8)(1) &gt; 0 ✓. La respuesta es (−∞, −4) ∪ (3, ∞), con extremos abiertos porque la desigualdad es estricta.
Con fracciones, nunca multipliques ambos lados por una expresión cuyo signo no conoces. Mejor resta para dejar 0 en un lado y combina en una sola fracción. Los ceros del denominador también son puntos críticos, y siempre se excluyen. Para (x − 1)/(x + 2) ≤ 0 la respuesta es (−2, 1]: −2 se excluye aunque la desigualdad tenga 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|x − a| &lt; r → a − r &lt; x &lt; a + r (un intervalo).
• |x − a| &gt; r → x &lt; a − r o x &gt; a + r (una unión).
• Un sistema conserva la intersección de las soluciones.
Lee |x − a| como "la distancia de x a a". Entonces |x − a| &lt; r significa que x está a menos de r de a: a − r &lt; x &lt; a + r, un solo intervalo. Y |x − a| &gt; r significa que x está a más de r de a: x &lt; a − r o x &gt; a + r, dos trozos. Para |x − 1| ≤ 4: −3 ≤ x ≤ 5. Para |x + 2| &gt; 3, es decir |x − (−2)| &gt; 3: x &lt; −5 o x &gt; 1.
Las tolerancias son desigualdades con valor absoluto. Una receta necesita 180 °C, con 5 grados de margen: |T − 180| ≤ 5, así que 175 ≤ T ≤ 185. Si hay un número delante de x, divide al final: |2x − 3| &lt; 5 da −5 &lt; 2x − 3 &lt; 5, así que −1 &lt; x &lt; 4.
Un sistema de desigualdades pide los valores que cumplen todas a la vez. Resuelve cada una, dibuja todas en la misma recta y quédate con la parte común. Para x + 1 &gt; −2 y 3x ≤ 6 obtienes x &gt; −3 y x ≤ 2, así que (−3, 2]. Si los trozos no se cruzan, el sistema no tiene solución, ∅. Con dos variables, cada desigualdad es un semiplano y la solución es la región que comparten.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0 en un lado, los signos de los factores no significan nada, por eso ese paso siempre va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 — √7 es irracional: es un número real, pero no una fracción.
2. B — x² − x = x² + 4 se simplifica a −x − 4 = 0: grado 1.
3. B — Δ = 16 − 16 = 0. De hecho 4x² − 4x + 1 = (2x − 1)², así que x = 1/2.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EA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6A8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Study Lab · Cálculo 1 · Semana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2926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39319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1 · Semana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31920" y="2834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y desigualdades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1 · Los números reales y la recta numérica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ℕ ⊂ ℤ ⊂ ℚ ⊂ ℝ, y los irracionales completan ℝ.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s-real-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179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la recta numérica como una calle larguísima donde existe toda dirección, incluso 2,5 y √2. "Menor que" solo significa "más al oeste".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2 · Ecuaciones, grado y raíces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todo a un lado: P(x) = 0.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grado es la mayor potencia después de simplificar.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n significa como máximo n raíces reales; compruébalas sustituyendo.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ecuación es una balanza. Lo que hagas en un platillo lo haces en el otro, y la balanza sigue equilibrada.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3 · Ecuaciones lineales y cuadráticas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Lineal: una raíz, x = −b/a.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Cuadrática: factoriza, despeja x² o usa la fórmula.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b² − 4ac decide 2, 1 o 0 raíces reales; en problemas de texto descarta las raíces sin sentido.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discriminante es un pronóstico del tiempo para las raíces: sabes si esperar dos, una o ninguna antes de salir a calcular.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4 · Ecuaciones de grado mayor y especiales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a raíz racional: ± (divisores del término independiente) / (divisores del coeficiente principal).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 0 en la división sintética significa que encontraste una raíz.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elevar al cuadrado o quitar denominadores, comprueba cada respuesta.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división sintética es como pelar una cebolla: cada raíz que encuentras quita una capa, hasta que el centro es una cuadrática.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5 · Desigualdades y notación de intervalos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incluye el extremo, ( ) lo excluye; ∞ siempre lleva ( 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s-number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2631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corchete es una puerta cerrada en la que puedes pararte; un paréntesis es una puerta a la que puedes acercarte pero nunca cruzar.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6 · Propiedades y desigualdades lineales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Sumar, restar o multiplicar por un positivo: el signo se mantiene.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31089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 o dividir por un negativo: invierte el signo.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un valor de tu respuesta en la desigualdad original.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Multiplicar por un número negativo es como mirarse al espejo: izquierda y derecha se intercambian, así que "menor" pasa a ser "mayor".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7 · Desigualdades polinómicas y racionales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en un lado, factoriza, encuentra los puntos críticos, prueba un valor por intervalo.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s-sig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4307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críticos son los semáforos de la recta numérica. Entre dos semáforos el color no cambia, así que basta mirar una vez por cuadra.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8 · Valor absoluto y sistemas de desigualdades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280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→ a − r &lt; x &lt; a + r (un intervalo).</a:t>
            </a:r>
            <a:endParaRPr lang="en-US" sz="2600" dirty="0"/>
          </a:p>
        </p:txBody>
      </p:sp>
      <p:pic>
        <p:nvPicPr>
          <p:cNvPr id="4" name="Image 0" descr="/home/jdca/Documents/Commercial Software Engineering/learning-platform/node_modules/.cache/docs/y1-t1-m3-calc-w1-es-abs-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603504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5257800"/>
            <a:ext cx="54864" cy="868680"/>
          </a:xfrm>
          <a:prstGeom prst="rect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52120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Piénsalo así. </a:t>
            </a:r>
            <a:pPr indent="0" marL="0">
              <a:buNone/>
            </a:pPr>
            <a:r>
              <a:rPr lang="en-US" sz="13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|x − a| &lt; r es un perro atado con una correa de largo r a un poste en a: puede estar en cualquier lugar a menos de r del poste, a cualquier lado.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914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de una tabla de signos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todo a un lado: x² + 2x − 3 &gt;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44952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85032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Factorizar: (x + 3)(x − 1) &gt;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9784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69864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los puntos críticos −3 y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14616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54696" y="2377440"/>
            <a:ext cx="1353312" cy="0"/>
          </a:xfrm>
          <a:prstGeom prst="line">
            <a:avLst/>
          </a:prstGeom>
          <a:noFill/>
          <a:ln w="19050">
            <a:solidFill>
              <a:srgbClr val="DDD3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−4, 0 y 2 en los factores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99448" y="2103120"/>
            <a:ext cx="548640" cy="548640"/>
          </a:xfrm>
          <a:prstGeom prst="ellipse">
            <a:avLst/>
          </a:prstGeom>
          <a:solidFill>
            <a:srgbClr val="7A6A8C"/>
          </a:solidFill>
          <a:ln w="12700">
            <a:solidFill>
              <a:srgbClr val="7A6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99448" y="2834640"/>
            <a:ext cx="19019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Quedarse con los intervalos positivos: (−∞, −3) ∪ (1, ∞)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097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¿Qué conjunto contiene a √7?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Los enteros ℤ      B) Los racionales ℚ      C) Los reales 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¿Cuál es el grado de x(x − 1) = x² + 4?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2      B) 1      C)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¿Cuántas raíces reales tiene 4x² − 4x + 1 = 0?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983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Dos      B) Una (doble)      C) Ninguna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897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respuestas están en las notas del orador.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02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 después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601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Calentamiento con ecuaciones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Desigualdades lineales e intervalos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de signos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absoluto, sistemas y un modelo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6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sitio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de desigualdades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28C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y desigualdades · SE Study Lab</dc:title>
  <dc:subject>PptxGenJS Presentation</dc:subject>
  <dc:creator>PptxGenJS</dc:creator>
  <cp:lastModifiedBy>PptxGenJS</cp:lastModifiedBy>
  <cp:revision>1</cp:revision>
  <dcterms:created xsi:type="dcterms:W3CDTF">2026-10-29T20:42:05Z</dcterms:created>
  <dcterms:modified xsi:type="dcterms:W3CDTF">2026-10-29T20:42:05Z</dcterms:modified>
</cp:coreProperties>
</file>