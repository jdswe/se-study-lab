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Os sistemas de arquivos duplicavam dados, então as cópias ficavam inconsistentes.
• Os programas dependiam do layout dos arquivos: mudar o layout significava reescrever código.
• Um SGBD guarda os dados uma vez, os descreve, os protege e os compartilha.
Antes dos bancos de dados, cada programa guardava seus dados em seus próprios arquivos simples: um registro após o outro, em um formato que só aquele programa entendia. O programa de vendas tinha um arquivo de clientes; o de faturamento tinha outro. Nada era compartilhado, então o mesmo cliente aparecia em vários lugares, e às vezes várias vezes dentro do mesmo arquivo.
À medida que as empresas passaram a depender de seus dados, os problemas ficaram sérios. As cópias redundantes se desencontravam, então o mesmo cliente podia ter dois endereços diferentes. Compartilhar dados entre aplicações significava copiá-los. Um arquivo danificado muitas vezes não podia ser reconstruído. Qualquer pessoa que conseguisse abrir um arquivo podia ler tudo. E como cada programa conhecia o layout exato de seus arquivos, qualquer mudança no layout obrigava os programadores a reescrever código.
A resposta foi o sistema de gerenciamento de banco de dados (SGBD): um software que guarda os dados uma única vez, descreve sua estrutura e permite que muitos programas e pessoas os usem com segurança. Em 1970, Edgar F. Codd propôs o modelo relacional, que organiza os dados em tabelas ligadas por chaves. Na década seguinte, ele passou de uma ideia de pesquisa à base da maioria dos sistemas empresariais.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Dado + contexto = informação; as pessoas transformam informação em conhecimento.
• Um banco de dados modela um minimundo, é coerente e tem um propósito.
• O catálogo guarda metadados: a estrutura e as regras dos dados.
Dados são fatos brutos que podem ser registrados, como "35000" ou "F". Sozinhos eles são ambíguos: "F" pode significar feminino em um contexto e falso em outro. Informação é o dado com contexto e significado: "o pen drive custa 35.000 pesos". Conhecimento é a compreensão que as pessoas constroem sobre a informação, como "o pen drive vende mais no início do semestre".
Um banco de dados é uma coleção organizada de dados relacionados, com um propósito. Ele representa uma parte do mundo real, às vezes chamada de minimundo ou universo de discurso, como uma loja do campus. Seus dados são logicamente coerentes: fatos soltos, mesmo que verdadeiros, não são um banco de dados. E ele é projetado, construído e preenchido para usuários e usos específicos.
Um banco de dados também descreve a si mesmo. Além dos dados, ele guarda um catálogo com a estrutura de cada tabela, o tipo de cada coluna e as regras que os dados devem seguir. Esses dados sobre os dados se chamam metadados. Os programas, e o próprio SGBD, leem o catálogo para saber como os dados estão organizados.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Um SGBD define, constrói, manipula e compartilha bancos de dados.
• Sistema de banco de dados = SGBD + dados + programas de aplicação.
• Vantagens principais: menos redundância, controle de acesso, consultas rápidas, recuperação e integridade.
Um sistema de gerenciamento de banco de dados é um software de uso geral para criar e manter bancos de dados. Ele faz quatro trabalhos. Define o banco de dados: tabelas, tipos de dados e regras. Constrói: guarda os dados em disco sob seu próprio controle. Manipula: responde consultas, inserções, atualizações e relatórios. E compartilha: muitos usuários e programas trabalham com os mesmos dados ao mesmo tempo.
SGBDs conhecidos incluem PostgreSQL, MySQL, SQL Server, Oracle Database e SQLite para dados relacionais, e MongoDB ou Redis para outros modelos de dados. O SGBD, junto com os dados e os programas de aplicação que o usam, se chama sistema de banco de dados.
Em comparação com arquivos, um SGBD traz vantagens reais: controla a redundância, aplica regras de acesso, usa índices e um otimizador de consultas para responder rápido, faz backup e recupera os dados após falhas, representa relacionamentos complexos e aplica regras de integridade, também chamadas de regras de negócio, como "um preço não pode ser negativo".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DBA: acesso, desempenho e segurança. Projetista: estrutura, regras e visões.
• Os analistas especificam; os programadores de aplicações constroem e mantêm.
• Os usuários finais podem ser casuais, paramétricos, sofisticados ou autônomos.
Vários papéis compartilham um banco de dados. O administrador de banco de dados (DBA) autoriza o acesso, monitora o desempenho e a segurança, controla mudanças na estrutura e planeja hardware e software. O projetista de banco de dados decide quais dados guardar e como estruturá-los, conversa com os futuros usuários, define regras de integridade e projeta visões para cada grupo.
Os analistas de sistemas descobrem do que os usuários finais precisam e especificam as transações que os atendem. Os programadores de aplicações transformam essas especificações em programas e depois os testam, documentam e mantêm.
Os usuários finais são a razão de o banco de dados existir. Usuários casuais o consultam de vez em quando, cada vez com uma pergunta diferente. Usuários paramétricos, como um caixa, repetem as mesmas operações padrão o dia todo. Usuários sofisticados, como analistas de dados, escrevem suas próprias consultas e ferramentas. Usuários autônomos mantêm um banco de dados pessoal para o próprio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Relação = tabela, atributo = coluna, tupla = linha.
• Esquema = estrutura; dados (instância) = conteúdo em um momento.
• Existem outros modelos: hierárquico, em rede, orientado a objetos e NoSQL.
No modelo relacional, os dados ficam em tabelas. Cada tabela, formalmente uma relação, representa um tipo de coisa, como Produto. Cada coluna, ou atributo, guarda uma propriedade, como o preço. Cada linha, também chamada de registro ou tupla, descreve uma coisa específica: o produto 20, um pen drive que custa 35.000.
O esquema é a estrutura: nomes das tabelas, colunas e seus tipos de dados. Os dados, às vezes chamados de instância, são o conteúdo em um dado momento. Adicionar uma coluna stock muda o esquema; mudar um preço muda apenas os dados. Tipos de dados comuns são inteiros, decimais, texto como VARCHAR(60), booleanos, datas e marcas de tempo.
O modelo relacional não é o único. Bancos hierárquicos organizam registros como árvores, como um organograma. Bancos em rede ligam registros com links. Bancos orientados a objetos guardam objetos com seus métodos. Muitos sistemas NoSQL modernos usam documentos ou pares chave-valor. O modelo relacional continua sendo o ponto de partida porque tabelas e chaves são simples e poderosas.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PK: única e não nula; identifica cada linha.
• FK: guarda a PK de outra tabela; cria o relacionamento.
• Relacionamentos N:M precisam de uma tabela associativa com duas FKs.
Uma chave primária (PK) identifica cada linha de uma tabela. Ela deve ser única e nunca vazia. Em Cliente, os customer_id 1, 2 e 3 aparecem uma vez cada. Dois clientes com id 2 quebrariam a chave.
Uma chave estrangeira (FK) é uma coluna que guarda a chave primária de outra tabela, criando um relacionamento. Pedido tem uma coluna customer_id que aponta para Cliente. Um cliente pode fazer muitos pedidos, então este é um relacionamento um para muitos (1:N). O SGBD pode recusar um pedido do cliente 99 se esse cliente não existir: isso é integridade referencial.
Alguns relacionamentos são muitos para muitos (N:M): um pedido pode incluir vários produtos, e um produto pode aparecer em vários pedidos. Os bancos relacionais modelam isso com uma tabela intermediária, muitas vezes chamada de tabela associativa, como Item_Pedido com order_id, product_id e quantity. Sua chave primária combina as duas chaves estrangeiras.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Restrições: PRIMARY KEY, FOREIGN KEY, NOT NULL e CHECK.
• Transação = tudo ou nada: COMMIT ou ROLLBACK.
• Controle de concorrência, logs, backups e menor privilégio mantêm os dados seguros.
Restrições de integridade são regras que o SGBD aplica para que dados inválidos nunca entrem. PRIMARY KEY proíbe identificadores repetidos. FOREIGN KEY mantém os relacionamentos válidos. NOT NULL exige um valor. CHECK testa uma condição, como price &gt;= 0. Como é o banco de dados que as aplica, toda aplicação recebe a mesma proteção.
Uma transação agrupa várias operações em uma unidade: tudo ou nada. Vender um pen drive significa criar o pedido, adicionar o item e reduzir o estoque. Se todos os passos funcionarem, a transação é confirmada (COMMIT). Se algum falhar, todas as mudanças são desfeitas (ROLLBACK), então o banco de dados nunca fica atualizado pela metade.
O SGBD também coordena usuários simultâneos: se dois caixas tentam vender o último pen drive ao mesmo tempo, só uma venda pode dar certo. Ele mantém um log de mudanças para se recuperar após falhas, permite backups regulares e um plano de recuperação, e controla a segurança com papéis e permissões, seguindo o princípio do menor privilégio: cada usuário recebe apenas o acesso de que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Externo = visões de usuário; conceitual = modelo lógico; interno = armazenamento físico.
• A independência de dados permite mudar um nível sem quebrar os outros.
• Os índices aceleram as buscas, mas custam espaço e tempo de atualização.
A arquitetura de três esquemas separa como os dados são vistos, organizados e guardados. O nível externo contém as visões de cada grupo de usuários: um caixa vê pedidos e preços. O nível conceitual descreve todo o banco de dados de forma lógica: Cliente, Pedido, Produto e seus relacionamentos. O nível interno descreve o armazenamento físico: arquivos, páginas e índices.
Essa separação dá independência de dados. A independência física significa que o armazenamento pode mudar, por exemplo com um novo índice, sem mudar as aplicações. A independência lógica significa que o esquema conceitual pode crescer, por exemplo com uma tabela nova, sem quebrar as visões existentes. Uma visão é uma consulta com nome: CREATE VIEW expensive_products AS SELECT … permite consultar um subconjunto sob medida como se fosse uma tabela, e também pode esconder colunas sensíveis.
A maioria dos bancos de dados segue uma arquitetura cliente-servidor: a aplicação, o cliente, envia SQL; o servidor, o SGBD, valida, planeja e executa. Um índice funciona como o índice de um livro: encontra linhas sem ler a tabela inteira. O otimizador de consultas escolhe um plano de execução, por exemplo se vale a pena usar um índice. Os índices aceleram as leituras, mas ocupam espaço e precisam ser atualizados a cada mudança.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SELECT colunas FROM tabela WHERE condição.
• ORDER BY ordena; JOIN … ON combina tabelas por meio das chaves.
• UPDATE e DELETE sempre precisam de uma cláusula WHERE.
SQL é a linguagem para trabalhar com dados relacionais. Uma consulta começa com três palavras: SELECT diz quais colunas mostrar, FROM diz qual tabela ler e WHERE diz quais linhas se qualificam. SELECT name, price FROM product WHERE price &gt; 20000; devolve apenas os produtos que custam mais de 20.000.
AND combina condições, e ORDER BY ordena o resultado: ORDER BY price DESC vai do maior para o menor. JOIN reúne tabelas relacionadas usando suas chaves: juntar Cliente e Pedido por customer_id lista cada cliente com seus pedidos, então um cliente com dois pedidos aparece duas vezes.
O SQL também muda dados. INSERT adiciona uma linha, UPDATE altera linhas e DELETE remove linhas. Sempre escreva uma cláusula WHERE em UPDATE e DELETE: sem ela, a mudança vale para todas as linhas da tabela. Experimente cada consulta no Laboratório SQL desta disciplina, que roda um banco de dados real no seu navegador.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Conceitual (ER) → lógico (tabelas) → físico (SQL).
• Entidades são substantivos (retângulos); relacionamentos, verbos (losangos).
• Atributos: simples, composto, multivalorado (duplo), derivado (tracejado), chave (sublinhado).
• Uma entidade fraca depende da dona: chave = chave da dona + discriminador.
Um banco de dados é projetado em três etapas, cada uma menos abstrata que a anterior. O modelo conceitual descreve o mundo real com um diagrama entidade–relacionamento (ER). O modelo lógico o transforma em tabelas com chaves. O modelo físico é o SQL que cria essas tabelas em um SGBD concreto.
O modelo ER, proposto por Peter Chen em 1976, tem três peças. Entidades são coisas com existência própria que queremos lembrar, sempre substantivos: Paciente, Médico, Consulta. São desenhadas como retângulos. Relacionamentos ligam entidades, costumam ser verbos e são desenhados como losangos; um relacionamento pode ter atributos próprios quando o dado só faz sentido para o par, como a data em que um médico começou em uma clínica.
Atributos descrevem uma entidade e são desenhados como elipses. Um atributo simples não pode ser dividido (nome). Um composto pode (endereço → rua, cidade, país). Um atributo multivalorado pode ter vários valores para uma mesma entidade (os telefones de um paciente) e é desenhado com elipse dupla. Um atributo derivado é calculado a partir de outros (a idade a partir da data de nascimento) e é desenhado tracejado. O atributo chave identifica cada entidade e é sublinhado.
Algumas entidades não podem ser identificadas sozinhas. Um quarto é "o quarto 12 do hospital B": sem o hospital, o número não significa nada. Isso é uma entidade fraca, desenhada com retângulo duplo. Sua chave é a chave da entidade dona mais sua própria chave parcial, chamada discriminador.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Entidade → tabela; composto → várias colunas; multivalorado → tabela nova; derivado → não se guarda.
• 1:N → FK no lado N; N:M → tabela de junção; 1:1 → FK em qualquer lado.
• Chaves podem ser naturais, substitutas ou compostas.
O modelo lógico segue um conjunto curto de regras. 1) Cada entidade forte vira tabela, seus atributos viram colunas e sua chave vira chave primária. 2) Um atributo composto vira uma coluna por parte. 3) Um atributo multivalorado ganha sua própria tabela com uma chave estrangeira para o dono. 4) Um atributo derivado não é guardado: é calculado nas consultas.
Os relacionamentos dependem da cardinalidade. 5) 1:1: coloque a chave de um lado como chave estrangeira no outro, de preferência no lado que sempre participa. 6) 1:N: a chave do lado "1" vai como chave estrangeira para o lado "N". 7) N:M: crie uma tabela de junção com as duas chaves como chaves estrangeiras. 8) Uma entidade fraca vira uma tabela cuja chave primária é a chave da dona mais seu discriminador.
Chaves primárias são de três tipos. Uma chave natural já existe no mundo real (um número de documento de identidade). Uma chave substituta (surrogate) é gerada pelo sistema, normalmente um número autoincremental; nunca muda e não tem significado. Uma chave composta combina duas ou mais colunas, como nas tabelas de junção e de entidades fracas. Mais duas palavras que você vai encontrar: o grau de uma tabela é seu número de colunas e a cardinalidade, seu número de linhas.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DDL: CREATE, ALTER, DROP, TRUNCATE. DML: INSERT, SELECT, UPDATE, DELETE.
• Use DECIMAL para dinheiro, VARCHAR para texto e DATE para datas.
• ON DELETE: CASCADE, RESTRICT ou SET NULL, conforme o relacionamento.
O SQL tem duas famílias de comandos. DDL (linguagem de definição de dados) constrói a estrutura: CREATE DATABASE e CREATE TABLE criam, ALTER TABLE muda colunas, DROP TABLE remove uma tabela com seus dados e TRUNCATE esvazia uma tabela mas mantém sua estrutura. DML (linguagem de manipulação de dados) trabalha com linhas: INSERT, SELECT, UPDATE e DELETE.
Cada coluna tem um tipo de dado, que é seu domínio. Os comuns são inteiros (INT, BIGINT), decimais exatos para dinheiro (DECIMAL(p, s)), decimais aproximados (FLOAT, DOUBLE), texto (CHAR(n) de tamanho fixo, VARCHAR(n) de tamanho variável), datas e horas (DATE, TIME, TIMESTAMP) e BOOLEAN. Os nomes mudam um pouco entre sistemas: o autoincremento é AUTO_INCREMENT no MySQL e SERIAL no PostgreSQL, e o SQLite, usado no Laboratório SQL, torna autoincremental qualquer INTEGER PRIMARY KEY.
Uma chave estrangeira pode dizer o que acontece quando a linha pai é excluída ou sua chave muda. CASCADE exclui ou atualiza também as linhas filhas. RESTRICT recusa a mudança enquanto houver filhas. SET NULL mantém as filhas mas esvazia sua chave estrangeira. Escolha conforme o relacionamento: excluir um médico não deveria apagar em silêncio seu histórico de consultas, então ali cabe RESTRICT.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Tudo entre BEGIN e COMMIT é uma unidade; qualquer falha significa ROLLBACK.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 — Quando uma cópia muda e as outras não, os dados se contradizem.
2. A — Ela coloca os valores em contexto. Sozinhos, "Lima" ou "2" não têm um significado claro.
3. A — Usuários sofisticados conhecem o banco o suficiente para construir suas próprias consultas e ferramentas.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DEA">
    <p:bg>
      <p:bgPr>
        <a:solidFill>
          <a:srgbClr val="F6F2EA"/>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3A4E74"/>
          </a:solidFill>
          <a:ln/>
        </p:spPr>
      </p:sp>
      <p:sp>
        <p:nvSpPr>
          <p:cNvPr id="3" name="Text 1"/>
          <p:cNvSpPr/>
          <p:nvPr/>
        </p:nvSpPr>
        <p:spPr>
          <a:xfrm>
            <a:off x="960120" y="6400800"/>
            <a:ext cx="8229600" cy="274320"/>
          </a:xfrm>
          <a:prstGeom prst="rect">
            <a:avLst/>
          </a:prstGeom>
          <a:noFill/>
          <a:ln/>
        </p:spPr>
        <p:txBody>
          <a:bodyPr wrap="square" rtlCol="0" anchor="ctr"/>
          <a:lstStyle/>
          <a:p>
            <a:pPr indent="0" marL="0">
              <a:buNone/>
            </a:pPr>
            <a:r>
              <a:rPr lang="en-US" sz="1000" dirty="0">
                <a:solidFill>
                  <a:srgbClr val="7A828C"/>
                </a:solidFill>
                <a:latin typeface="Arial" pitchFamily="34" charset="0"/>
                <a:ea typeface="Arial" pitchFamily="34" charset="-122"/>
                <a:cs typeface="Arial" pitchFamily="34" charset="-120"/>
              </a:rPr>
              <a:t>SE Study Lab · Bancos de Dados 1 · Semana 1</a:t>
            </a:r>
            <a:endParaRPr lang="en-US" sz="1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822960" y="1097280"/>
            <a:ext cx="2926080" cy="4023360"/>
          </a:xfrm>
          <a:prstGeom prst="rect">
            <a:avLst/>
          </a:prstGeom>
          <a:noFill/>
          <a:ln/>
        </p:spPr>
        <p:txBody>
          <a:bodyPr wrap="square" rtlCol="0" anchor="ctr"/>
          <a:lstStyle/>
          <a:p>
            <a:pPr indent="0" marL="0">
              <a:buNone/>
            </a:pPr>
            <a:r>
              <a:rPr lang="en-US" sz="22000" b="1" dirty="0">
                <a:solidFill>
                  <a:srgbClr val="3A4E74"/>
                </a:solidFill>
                <a:latin typeface="Arial" pitchFamily="34" charset="0"/>
                <a:ea typeface="Arial" pitchFamily="34" charset="-122"/>
                <a:cs typeface="Arial" pitchFamily="34" charset="-120"/>
              </a:rPr>
              <a:t>1</a:t>
            </a:r>
            <a:endParaRPr lang="en-US" sz="22000" dirty="0"/>
          </a:p>
        </p:txBody>
      </p:sp>
      <p:sp>
        <p:nvSpPr>
          <p:cNvPr id="3" name="Text 1"/>
          <p:cNvSpPr/>
          <p:nvPr/>
        </p:nvSpPr>
        <p:spPr>
          <a:xfrm>
            <a:off x="3931920" y="2377440"/>
            <a:ext cx="7772400" cy="457200"/>
          </a:xfrm>
          <a:prstGeom prst="rect">
            <a:avLst/>
          </a:prstGeom>
          <a:noFill/>
          <a:ln/>
        </p:spPr>
        <p:txBody>
          <a:bodyPr wrap="square" rtlCol="0" anchor="ctr"/>
          <a:lstStyle/>
          <a:p>
            <a:pPr indent="0" marL="0">
              <a:buNone/>
            </a:pPr>
            <a:r>
              <a:rPr lang="en-US" sz="1600" b="1" dirty="0">
                <a:solidFill>
                  <a:srgbClr val="3A4E74"/>
                </a:solidFill>
                <a:latin typeface="Arial" pitchFamily="34" charset="0"/>
                <a:ea typeface="Arial" pitchFamily="34" charset="-122"/>
                <a:cs typeface="Arial" pitchFamily="34" charset="-120"/>
              </a:rPr>
              <a:t>Bancos de Dados 1 · Semana 1</a:t>
            </a:r>
            <a:endParaRPr lang="en-US" sz="1600" dirty="0"/>
          </a:p>
        </p:txBody>
      </p:sp>
      <p:sp>
        <p:nvSpPr>
          <p:cNvPr id="4" name="Text 2"/>
          <p:cNvSpPr/>
          <p:nvPr/>
        </p:nvSpPr>
        <p:spPr>
          <a:xfrm>
            <a:off x="3931920" y="2834640"/>
            <a:ext cx="7772400" cy="1828800"/>
          </a:xfrm>
          <a:prstGeom prst="rect">
            <a:avLst/>
          </a:prstGeom>
          <a:noFill/>
          <a:ln/>
        </p:spPr>
        <p:txBody>
          <a:bodyPr wrap="square" rtlCol="0" anchor="t"/>
          <a:lstStyle/>
          <a:p>
            <a:pPr indent="0" marL="0">
              <a:buNone/>
            </a:pPr>
            <a:r>
              <a:rPr lang="en-US" sz="4000" b="1" dirty="0">
                <a:solidFill>
                  <a:srgbClr val="1F2A36"/>
                </a:solidFill>
                <a:latin typeface="Arial" pitchFamily="34" charset="0"/>
                <a:ea typeface="Arial" pitchFamily="34" charset="-122"/>
                <a:cs typeface="Arial" pitchFamily="34" charset="-120"/>
              </a:rPr>
              <a:t>Sistemas de gerenciamento de bancos de dados</a:t>
            </a:r>
            <a:endParaRPr lang="en-US" sz="4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1 · Dos arquivos aos bancos de dados</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Os sistemas de arquivos duplicavam dados, então as cópias ficavam inconsistentes.</a:t>
            </a:r>
            <a:endParaRPr lang="en-US" sz="2600" dirty="0"/>
          </a:p>
        </p:txBody>
      </p:sp>
      <p:pic>
        <p:nvPicPr>
          <p:cNvPr id="4" name="Image 0" descr="/home/jdca/Documents/Commercial Software Engineering/learning-platform/node_modules/.cache/docs/y1-t1-m3-db-w1-pt-files-vs-dbms.png">    </p:cNvPr>
          <p:cNvPicPr>
            <a:picLocks noChangeAspect="1"/>
          </p:cNvPicPr>
          <p:nvPr/>
        </p:nvPicPr>
        <p:blipFill>
          <a:blip r:embed="rId1"/>
          <a:stretch>
            <a:fillRect/>
          </a:stretch>
        </p:blipFill>
        <p:spPr>
          <a:xfrm>
            <a:off x="5577840" y="1280160"/>
            <a:ext cx="6035040" cy="2514600"/>
          </a:xfrm>
          <a:prstGeom prst="rect">
            <a:avLst/>
          </a:prstGeom>
        </p:spPr>
      </p:pic>
      <p:sp>
        <p:nvSpPr>
          <p:cNvPr id="5" name="Shape 2"/>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Imagine cada escritório de uma empresa com sua própria agenda de endereços em papel. Quando um cliente se muda, alguém precisa atualizar todas as agendas, e alguma vai ficar para trás. Um banco de dados é uma única agenda compartilhada e bem organizada que todos consultam.</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2 · Dado, informação e o que é um banco de dados</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Dado + contexto = informação; as pessoas transformam informação em conhecimento.</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Um banco de dados modela um minimundo, é coerente e tem um propósito.</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O catálogo guarda metadados: a estrutura e as regras dos dados.</a:t>
            </a:r>
            <a:endParaRPr lang="en-US" sz="1800" dirty="0"/>
          </a:p>
        </p:txBody>
      </p:sp>
      <p:sp>
        <p:nvSpPr>
          <p:cNvPr id="5" name="Shape 3"/>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Uma única peça de quebra-cabeça é um dado. Ver que ela faz parte do céu é informação. Saber por onde começar o quebra-cabeça da próxima vez é conhecimento. A caixa com a imagem na tampa são os metadados.</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3 · O que um SGBD faz</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Um SGBD define, constrói, manipula e compartilha bancos de dados.</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Sistema de banco de dados = SGBD + dados + programas de aplicação.</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Vantagens principais: menos redundância, controle de acesso, consultas rápidas, recuperação e integridade.</a:t>
            </a:r>
            <a:endParaRPr lang="en-US" sz="1800" dirty="0"/>
          </a:p>
        </p:txBody>
      </p:sp>
      <p:sp>
        <p:nvSpPr>
          <p:cNvPr id="5" name="Shape 3"/>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 SGBD é como um bibliotecário. Você não entra sozinho no depósito: você pede, e o bibliotecário encontra o livro rápido, verifica se você pode pegá-lo, registra o empréstimo e garante que duas pessoas não levem o último exemplar.</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4 · Quem trabalha com um banco de dados</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DBA: acesso, desempenho e segurança. Projetista: estrutura, regras e visões.</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Os analistas especificam; os programadores de aplicações constroem e mantêm.</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Os usuários finais podem ser casuais, paramétricos, sofisticados ou autônomos.</a:t>
            </a:r>
            <a:endParaRPr lang="en-US" sz="1800" dirty="0"/>
          </a:p>
        </p:txBody>
      </p:sp>
      <p:sp>
        <p:nvSpPr>
          <p:cNvPr id="5" name="Shape 3"/>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Pense em um teatro: o projetista desenha o palco, o administrador cuida do prédio e guarda as chaves, os programadores constroem os objetos de cena, e o público, os usuários finais, é a razão do espetáculo.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5 · O modelo relacional: tabelas, linhas e colunas</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Relação = tabela, atributo = coluna, tupla = linha.</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Esquema = estrutura; dados (instância) = conteúdo em um momento.</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Existem outros modelos: hierárquico, em rede, orientado a objetos e NoSQL.</a:t>
            </a:r>
            <a:endParaRPr lang="en-US" sz="1800" dirty="0"/>
          </a:p>
        </p:txBody>
      </p:sp>
      <p:sp>
        <p:nvSpPr>
          <p:cNvPr id="5" name="Shape 3"/>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Uma tabela é como um formulário bem projetado impresso muitas vezes: as perguntas do formulário são as colunas (o esquema), e cada cópia preenchida é uma linha (os dados).</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6 · Chaves e relacionamentos</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PK: única e não nula; identifica cada linha.</a:t>
            </a:r>
            <a:endParaRPr lang="en-US" sz="2600" dirty="0"/>
          </a:p>
        </p:txBody>
      </p:sp>
      <p:pic>
        <p:nvPicPr>
          <p:cNvPr id="4" name="Image 0" descr="/home/jdca/Documents/Commercial Software Engineering/learning-platform/node_modules/.cache/docs/y1-t1-m3-db-w1-pt-er-store.png">    </p:cNvPr>
          <p:cNvPicPr>
            <a:picLocks noChangeAspect="1"/>
          </p:cNvPicPr>
          <p:nvPr/>
        </p:nvPicPr>
        <p:blipFill>
          <a:blip r:embed="rId1"/>
          <a:stretch>
            <a:fillRect/>
          </a:stretch>
        </p:blipFill>
        <p:spPr>
          <a:xfrm>
            <a:off x="5577840" y="1280160"/>
            <a:ext cx="6035040" cy="2682240"/>
          </a:xfrm>
          <a:prstGeom prst="rect">
            <a:avLst/>
          </a:prstGeom>
        </p:spPr>
      </p:pic>
      <p:sp>
        <p:nvSpPr>
          <p:cNvPr id="5" name="Shape 2"/>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Uma chave primária é como um número de documento de identidade: um por pessoa, nunca compartilhado. Uma chave estrangeira é esse mesmo número escrito em outro formulário, para que você sempre encontre a pessoa a quem ele se refere.</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7 · Integridade, transações e segurança</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Restrições: PRIMARY KEY, FOREIGN KEY, NOT NULL e CHECK.</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Transação = tudo ou nada: COMMIT ou ROLLBACK.</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Controle de concorrência, logs, backups e menor privilégio mantêm os dados seguros.</a:t>
            </a:r>
            <a:endParaRPr lang="en-US" sz="1800" dirty="0"/>
          </a:p>
        </p:txBody>
      </p:sp>
      <p:sp>
        <p:nvSpPr>
          <p:cNvPr id="5" name="Shape 3"/>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Uma transação é como uma transferência bancária: o dinheiro sai de uma conta e chega na outra, ou nada acontece. Você nunca quer que o dinheiro saia e não chegue.</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8 · Três níveis, visões e índices</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Externo = visões de usuário; conceitual = modelo lógico; interno = armazenamento físico.</a:t>
            </a:r>
            <a:endParaRPr lang="en-US" sz="2600" dirty="0"/>
          </a:p>
        </p:txBody>
      </p:sp>
      <p:pic>
        <p:nvPicPr>
          <p:cNvPr id="4" name="Image 0" descr="/home/jdca/Documents/Commercial Software Engineering/learning-platform/node_modules/.cache/docs/y1-t1-m3-db-w1-pt-three-schema.png">    </p:cNvPr>
          <p:cNvPicPr>
            <a:picLocks noChangeAspect="1"/>
          </p:cNvPicPr>
          <p:nvPr/>
        </p:nvPicPr>
        <p:blipFill>
          <a:blip r:embed="rId1"/>
          <a:stretch>
            <a:fillRect/>
          </a:stretch>
        </p:blipFill>
        <p:spPr>
          <a:xfrm>
            <a:off x="5577840" y="1280160"/>
            <a:ext cx="6035040" cy="2514600"/>
          </a:xfrm>
          <a:prstGeom prst="rect">
            <a:avLst/>
          </a:prstGeom>
        </p:spPr>
      </p:pic>
      <p:sp>
        <p:nvSpPr>
          <p:cNvPr id="5" name="Shape 2"/>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Um restaurante: os clientes veem o cardápio (externo), o chef trabalha com receitas (conceitual) e a despensa é organizada em prateleiras e geladeiras (interno). Reorganizar a despensa não deveria mudar o cardápio.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9 · Primeiras consultas SQL</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SELECT colunas FROM tabela WHERE condição.</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ORDER BY ordena; JOIN … ON combina tabelas por meio das chaves.</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UPDATE e DELETE sempre precisam de uma cláusula WHERE.</a:t>
            </a:r>
            <a:endParaRPr lang="en-US" sz="1800" dirty="0"/>
          </a:p>
        </p:txBody>
      </p:sp>
      <p:sp>
        <p:nvSpPr>
          <p:cNvPr id="5" name="Shape 3"/>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SELECT é como pedir a um bibliotecário: "mostre os títulos e autores (SELECT) da estante de história (FROM) publicados depois de 2000 (WHERE)".</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10 · Projeto em três etapas: o modelo ER</a:t>
            </a:r>
            <a:endParaRPr lang="en-US" sz="1400" dirty="0"/>
          </a:p>
        </p:txBody>
      </p:sp>
      <p:sp>
        <p:nvSpPr>
          <p:cNvPr id="3" name="Text 1"/>
          <p:cNvSpPr/>
          <p:nvPr/>
        </p:nvSpPr>
        <p:spPr>
          <a:xfrm>
            <a:off x="960120" y="1280160"/>
            <a:ext cx="4206240" cy="329184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Conceitual (ER) → lógico (tabelas) → físico (SQL).</a:t>
            </a:r>
            <a:endParaRPr lang="en-US" sz="2600" dirty="0"/>
          </a:p>
        </p:txBody>
      </p:sp>
      <p:pic>
        <p:nvPicPr>
          <p:cNvPr id="4" name="Image 0" descr="/home/jdca/Documents/Commercial Software Engineering/learning-platform/node_modules/.cache/docs/y1-t1-m3-db-w1-pt-er-notation.png">    </p:cNvPr>
          <p:cNvPicPr>
            <a:picLocks noChangeAspect="1"/>
          </p:cNvPicPr>
          <p:nvPr/>
        </p:nvPicPr>
        <p:blipFill>
          <a:blip r:embed="rId1"/>
          <a:stretch>
            <a:fillRect/>
          </a:stretch>
        </p:blipFill>
        <p:spPr>
          <a:xfrm>
            <a:off x="5577840" y="1280160"/>
            <a:ext cx="6035040" cy="2766060"/>
          </a:xfrm>
          <a:prstGeom prst="rect">
            <a:avLst/>
          </a:prstGeom>
        </p:spPr>
      </p:pic>
      <p:sp>
        <p:nvSpPr>
          <p:cNvPr id="5" name="Shape 2"/>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3"/>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As três etapas são como construir uma casa: o esboço que você discute com a família (conceitual), a planta do arquiteto com medidas (lógico) e a obra com materiais reais (físico).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11 · Do diagrama ER às tabelas</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Entidade → tabela; composto → várias colunas; multivalorado → tabela nova; derivado → não se guarda.</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1:N → FK no lado N; N:M → tabela de junção; 1:1 → FK em qualquer lado.</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Chaves podem ser naturais, substitutas ou compostas.</a:t>
            </a:r>
            <a:endParaRPr lang="en-US" sz="1800" dirty="0"/>
          </a:p>
        </p:txBody>
      </p:sp>
      <p:sp>
        <p:nvSpPr>
          <p:cNvPr id="5" name="Shape 3"/>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As regras de transformação são uma receita: o diagrama ER é a lista de ingredientes e as regras dizem exatamente em qual panela vai cada um.</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Lição 12 · SQL para construir e mudar dados: DDL e DML</a:t>
            </a:r>
            <a:endParaRPr lang="en-US" sz="1400" dirty="0"/>
          </a:p>
        </p:txBody>
      </p:sp>
      <p:sp>
        <p:nvSpPr>
          <p:cNvPr id="3" name="Text 1"/>
          <p:cNvSpPr/>
          <p:nvPr/>
        </p:nvSpPr>
        <p:spPr>
          <a:xfrm>
            <a:off x="960120" y="1280160"/>
            <a:ext cx="10424160" cy="1737360"/>
          </a:xfrm>
          <a:prstGeom prst="rect">
            <a:avLst/>
          </a:prstGeom>
          <a:noFill/>
          <a:ln/>
        </p:spPr>
        <p:txBody>
          <a:bodyPr wrap="square" rtlCol="0" anchor="t"/>
          <a:lstStyle/>
          <a:p>
            <a:pPr indent="0" marL="0">
              <a:buNone/>
            </a:pPr>
            <a:r>
              <a:rPr lang="en-US" sz="3000" b="1" dirty="0">
                <a:solidFill>
                  <a:srgbClr val="1F2A36"/>
                </a:solidFill>
                <a:latin typeface="Arial" pitchFamily="34" charset="0"/>
                <a:ea typeface="Arial" pitchFamily="34" charset="-122"/>
                <a:cs typeface="Arial" pitchFamily="34" charset="-120"/>
              </a:rPr>
              <a:t>DDL: CREATE, ALTER, DROP, TRUNCATE. DML: INSERT, SELECT, UPDATE, DELETE.</a:t>
            </a:r>
            <a:endParaRPr lang="en-US" sz="3000" dirty="0"/>
          </a:p>
        </p:txBody>
      </p:sp>
      <p:sp>
        <p:nvSpPr>
          <p:cNvPr id="4" name="Text 2"/>
          <p:cNvSpPr/>
          <p:nvPr/>
        </p:nvSpPr>
        <p:spPr>
          <a:xfrm>
            <a:off x="960120" y="3108960"/>
            <a:ext cx="10424160" cy="2011680"/>
          </a:xfrm>
          <a:prstGeom prst="rect">
            <a:avLst/>
          </a:prstGeom>
          <a:noFill/>
          <a:ln/>
        </p:spPr>
        <p:txBody>
          <a:bodyPr wrap="square" rtlCol="0" anchor="t"/>
          <a:lstStyle/>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Use DECIMAL para dinheiro, VARCHAR para texto e DATE para datas.</a:t>
            </a:r>
            <a:endParaRPr lang="en-US" sz="1800" dirty="0"/>
          </a:p>
          <a:p>
            <a:pPr marL="342900" indent="-342900">
              <a:spcAft>
                <a:spcPts val="800"/>
              </a:spcAft>
              <a:buSzPct val="100000"/>
              <a:buChar char="●"/>
            </a:pPr>
            <a:r>
              <a:rPr lang="en-US" sz="1800" dirty="0">
                <a:solidFill>
                  <a:srgbClr val="4E5A66"/>
                </a:solidFill>
                <a:latin typeface="Arial" pitchFamily="34" charset="0"/>
                <a:ea typeface="Arial" pitchFamily="34" charset="-122"/>
                <a:cs typeface="Arial" pitchFamily="34" charset="-120"/>
              </a:rPr>
              <a:t>ON DELETE: CASCADE, RESTRICT ou SET NULL, conforme o relacionamento.</a:t>
            </a:r>
            <a:endParaRPr lang="en-US" sz="1800" dirty="0"/>
          </a:p>
        </p:txBody>
      </p:sp>
      <p:sp>
        <p:nvSpPr>
          <p:cNvPr id="5" name="Shape 3"/>
          <p:cNvSpPr/>
          <p:nvPr/>
        </p:nvSpPr>
        <p:spPr>
          <a:xfrm>
            <a:off x="960120" y="5257800"/>
            <a:ext cx="54864" cy="868680"/>
          </a:xfrm>
          <a:prstGeom prst="rect">
            <a:avLst/>
          </a:prstGeom>
          <a:solidFill>
            <a:srgbClr val="3A4E74"/>
          </a:solidFill>
          <a:ln w="12700">
            <a:solidFill>
              <a:srgbClr val="3A4E74"/>
            </a:solidFill>
            <a:prstDash val="solid"/>
          </a:ln>
        </p:spPr>
      </p:sp>
      <p:sp>
        <p:nvSpPr>
          <p:cNvPr id="6" name="Text 4"/>
          <p:cNvSpPr/>
          <p:nvPr/>
        </p:nvSpPr>
        <p:spPr>
          <a:xfrm>
            <a:off x="1143000" y="5212080"/>
            <a:ext cx="10241280" cy="960120"/>
          </a:xfrm>
          <a:prstGeom prst="rect">
            <a:avLst/>
          </a:prstGeom>
          <a:noFill/>
          <a:ln/>
        </p:spPr>
        <p:txBody>
          <a:bodyPr wrap="square" rtlCol="0" anchor="ctr"/>
          <a:lstStyle/>
          <a:p>
            <a:pPr indent="0" marL="0">
              <a:buNone/>
            </a:pPr>
            <a:r>
              <a:rPr lang="en-US" sz="1300" b="1" dirty="0">
                <a:solidFill>
                  <a:srgbClr val="1F2A36"/>
                </a:solidFill>
                <a:latin typeface="Arial" pitchFamily="34" charset="0"/>
                <a:ea typeface="Arial" pitchFamily="34" charset="-122"/>
                <a:cs typeface="Arial" pitchFamily="34" charset="-120"/>
              </a:rPr>
              <a:t>Pense assim. </a:t>
            </a:r>
            <a:pPr indent="0" marL="0">
              <a:buNone/>
            </a:pPr>
            <a:r>
              <a:rPr lang="en-US" sz="1300" dirty="0">
                <a:solidFill>
                  <a:srgbClr val="4E5A66"/>
                </a:solidFill>
                <a:latin typeface="Arial" pitchFamily="34" charset="0"/>
                <a:ea typeface="Arial" pitchFamily="34" charset="-122"/>
                <a:cs typeface="Arial" pitchFamily="34" charset="-120"/>
              </a:rPr>
              <a:t>DDL constrói as prateleiras; DML coloca coisas nelas, move e tira. TRUNCATE esvazia as prateleiras; DROP as tira da sala.</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Passo a passo</a:t>
            </a:r>
            <a:endParaRPr lang="en-US" sz="1400" dirty="0"/>
          </a:p>
        </p:txBody>
      </p:sp>
      <p:sp>
        <p:nvSpPr>
          <p:cNvPr id="3" name="Text 1"/>
          <p:cNvSpPr/>
          <p:nvPr/>
        </p:nvSpPr>
        <p:spPr>
          <a:xfrm>
            <a:off x="960120" y="914400"/>
            <a:ext cx="1042416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Coloque a venda em ordem</a:t>
            </a:r>
            <a:endParaRPr lang="en-US" sz="2800" dirty="0"/>
          </a:p>
        </p:txBody>
      </p:sp>
      <p:sp>
        <p:nvSpPr>
          <p:cNvPr id="4" name="Shape 2"/>
          <p:cNvSpPr/>
          <p:nvPr/>
        </p:nvSpPr>
        <p:spPr>
          <a:xfrm>
            <a:off x="960120" y="2103120"/>
            <a:ext cx="548640" cy="548640"/>
          </a:xfrm>
          <a:prstGeom prst="ellipse">
            <a:avLst/>
          </a:prstGeom>
          <a:solidFill>
            <a:srgbClr val="3A4E74"/>
          </a:solidFill>
          <a:ln w="12700">
            <a:solidFill>
              <a:srgbClr val="3A4E74"/>
            </a:solidFill>
            <a:prstDash val="solid"/>
          </a:ln>
        </p:spPr>
      </p:sp>
      <p:sp>
        <p:nvSpPr>
          <p:cNvPr id="5" name="Text 3"/>
          <p:cNvSpPr/>
          <p:nvPr/>
        </p:nvSpPr>
        <p:spPr>
          <a:xfrm>
            <a:off x="960120"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1</a:t>
            </a:r>
            <a:endParaRPr lang="en-US" sz="1800" dirty="0"/>
          </a:p>
        </p:txBody>
      </p:sp>
      <p:sp>
        <p:nvSpPr>
          <p:cNvPr id="6" name="Shape 4"/>
          <p:cNvSpPr/>
          <p:nvPr/>
        </p:nvSpPr>
        <p:spPr>
          <a:xfrm>
            <a:off x="1600200" y="2377440"/>
            <a:ext cx="1353312" cy="0"/>
          </a:xfrm>
          <a:prstGeom prst="line">
            <a:avLst/>
          </a:prstGeom>
          <a:noFill/>
          <a:ln w="19050">
            <a:solidFill>
              <a:srgbClr val="DDD3C0"/>
            </a:solidFill>
            <a:prstDash val="solid"/>
          </a:ln>
        </p:spPr>
      </p:sp>
      <p:sp>
        <p:nvSpPr>
          <p:cNvPr id="7" name="Text 5"/>
          <p:cNvSpPr/>
          <p:nvPr/>
        </p:nvSpPr>
        <p:spPr>
          <a:xfrm>
            <a:off x="960120" y="2834640"/>
            <a:ext cx="1901952"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Iniciar a transação (BEGIN)</a:t>
            </a:r>
            <a:endParaRPr lang="en-US" sz="1400" dirty="0"/>
          </a:p>
        </p:txBody>
      </p:sp>
      <p:sp>
        <p:nvSpPr>
          <p:cNvPr id="8" name="Shape 6"/>
          <p:cNvSpPr/>
          <p:nvPr/>
        </p:nvSpPr>
        <p:spPr>
          <a:xfrm>
            <a:off x="3044952" y="2103120"/>
            <a:ext cx="548640" cy="548640"/>
          </a:xfrm>
          <a:prstGeom prst="ellipse">
            <a:avLst/>
          </a:prstGeom>
          <a:solidFill>
            <a:srgbClr val="3A4E74"/>
          </a:solidFill>
          <a:ln w="12700">
            <a:solidFill>
              <a:srgbClr val="3A4E74"/>
            </a:solidFill>
            <a:prstDash val="solid"/>
          </a:ln>
        </p:spPr>
      </p:sp>
      <p:sp>
        <p:nvSpPr>
          <p:cNvPr id="9" name="Text 7"/>
          <p:cNvSpPr/>
          <p:nvPr/>
        </p:nvSpPr>
        <p:spPr>
          <a:xfrm>
            <a:off x="3044952"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2</a:t>
            </a:r>
            <a:endParaRPr lang="en-US" sz="1800" dirty="0"/>
          </a:p>
        </p:txBody>
      </p:sp>
      <p:sp>
        <p:nvSpPr>
          <p:cNvPr id="10" name="Shape 8"/>
          <p:cNvSpPr/>
          <p:nvPr/>
        </p:nvSpPr>
        <p:spPr>
          <a:xfrm>
            <a:off x="3685032" y="2377440"/>
            <a:ext cx="1353312" cy="0"/>
          </a:xfrm>
          <a:prstGeom prst="line">
            <a:avLst/>
          </a:prstGeom>
          <a:noFill/>
          <a:ln w="19050">
            <a:solidFill>
              <a:srgbClr val="DDD3C0"/>
            </a:solidFill>
            <a:prstDash val="solid"/>
          </a:ln>
        </p:spPr>
      </p:sp>
      <p:sp>
        <p:nvSpPr>
          <p:cNvPr id="11" name="Text 9"/>
          <p:cNvSpPr/>
          <p:nvPr/>
        </p:nvSpPr>
        <p:spPr>
          <a:xfrm>
            <a:off x="3044952" y="2834640"/>
            <a:ext cx="1901952"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Inserir o novo pedido</a:t>
            </a:r>
            <a:endParaRPr lang="en-US" sz="1400" dirty="0"/>
          </a:p>
        </p:txBody>
      </p:sp>
      <p:sp>
        <p:nvSpPr>
          <p:cNvPr id="12" name="Shape 10"/>
          <p:cNvSpPr/>
          <p:nvPr/>
        </p:nvSpPr>
        <p:spPr>
          <a:xfrm>
            <a:off x="5129784" y="2103120"/>
            <a:ext cx="548640" cy="548640"/>
          </a:xfrm>
          <a:prstGeom prst="ellipse">
            <a:avLst/>
          </a:prstGeom>
          <a:solidFill>
            <a:srgbClr val="3A4E74"/>
          </a:solidFill>
          <a:ln w="12700">
            <a:solidFill>
              <a:srgbClr val="3A4E74"/>
            </a:solidFill>
            <a:prstDash val="solid"/>
          </a:ln>
        </p:spPr>
      </p:sp>
      <p:sp>
        <p:nvSpPr>
          <p:cNvPr id="13" name="Text 11"/>
          <p:cNvSpPr/>
          <p:nvPr/>
        </p:nvSpPr>
        <p:spPr>
          <a:xfrm>
            <a:off x="5129784"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3</a:t>
            </a:r>
            <a:endParaRPr lang="en-US" sz="1800" dirty="0"/>
          </a:p>
        </p:txBody>
      </p:sp>
      <p:sp>
        <p:nvSpPr>
          <p:cNvPr id="14" name="Shape 12"/>
          <p:cNvSpPr/>
          <p:nvPr/>
        </p:nvSpPr>
        <p:spPr>
          <a:xfrm>
            <a:off x="5769864" y="2377440"/>
            <a:ext cx="1353312" cy="0"/>
          </a:xfrm>
          <a:prstGeom prst="line">
            <a:avLst/>
          </a:prstGeom>
          <a:noFill/>
          <a:ln w="19050">
            <a:solidFill>
              <a:srgbClr val="DDD3C0"/>
            </a:solidFill>
            <a:prstDash val="solid"/>
          </a:ln>
        </p:spPr>
      </p:sp>
      <p:sp>
        <p:nvSpPr>
          <p:cNvPr id="15" name="Text 13"/>
          <p:cNvSpPr/>
          <p:nvPr/>
        </p:nvSpPr>
        <p:spPr>
          <a:xfrm>
            <a:off x="5129784" y="2834640"/>
            <a:ext cx="1901952"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Inserir o item do pedido</a:t>
            </a:r>
            <a:endParaRPr lang="en-US" sz="1400" dirty="0"/>
          </a:p>
        </p:txBody>
      </p:sp>
      <p:sp>
        <p:nvSpPr>
          <p:cNvPr id="16" name="Shape 14"/>
          <p:cNvSpPr/>
          <p:nvPr/>
        </p:nvSpPr>
        <p:spPr>
          <a:xfrm>
            <a:off x="7214616" y="2103120"/>
            <a:ext cx="548640" cy="548640"/>
          </a:xfrm>
          <a:prstGeom prst="ellipse">
            <a:avLst/>
          </a:prstGeom>
          <a:solidFill>
            <a:srgbClr val="3A4E74"/>
          </a:solidFill>
          <a:ln w="12700">
            <a:solidFill>
              <a:srgbClr val="3A4E74"/>
            </a:solidFill>
            <a:prstDash val="solid"/>
          </a:ln>
        </p:spPr>
      </p:sp>
      <p:sp>
        <p:nvSpPr>
          <p:cNvPr id="17" name="Text 15"/>
          <p:cNvSpPr/>
          <p:nvPr/>
        </p:nvSpPr>
        <p:spPr>
          <a:xfrm>
            <a:off x="7214616"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4</a:t>
            </a:r>
            <a:endParaRPr lang="en-US" sz="1800" dirty="0"/>
          </a:p>
        </p:txBody>
      </p:sp>
      <p:sp>
        <p:nvSpPr>
          <p:cNvPr id="18" name="Shape 16"/>
          <p:cNvSpPr/>
          <p:nvPr/>
        </p:nvSpPr>
        <p:spPr>
          <a:xfrm>
            <a:off x="7854696" y="2377440"/>
            <a:ext cx="1353312" cy="0"/>
          </a:xfrm>
          <a:prstGeom prst="line">
            <a:avLst/>
          </a:prstGeom>
          <a:noFill/>
          <a:ln w="19050">
            <a:solidFill>
              <a:srgbClr val="DDD3C0"/>
            </a:solidFill>
            <a:prstDash val="solid"/>
          </a:ln>
        </p:spPr>
      </p:sp>
      <p:sp>
        <p:nvSpPr>
          <p:cNvPr id="19" name="Text 17"/>
          <p:cNvSpPr/>
          <p:nvPr/>
        </p:nvSpPr>
        <p:spPr>
          <a:xfrm>
            <a:off x="7214616" y="2834640"/>
            <a:ext cx="1901952"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Reduzir o estoque do produto</a:t>
            </a:r>
            <a:endParaRPr lang="en-US" sz="1400" dirty="0"/>
          </a:p>
        </p:txBody>
      </p:sp>
      <p:sp>
        <p:nvSpPr>
          <p:cNvPr id="20" name="Shape 18"/>
          <p:cNvSpPr/>
          <p:nvPr/>
        </p:nvSpPr>
        <p:spPr>
          <a:xfrm>
            <a:off x="9299448" y="2103120"/>
            <a:ext cx="548640" cy="548640"/>
          </a:xfrm>
          <a:prstGeom prst="ellipse">
            <a:avLst/>
          </a:prstGeom>
          <a:solidFill>
            <a:srgbClr val="3A4E74"/>
          </a:solidFill>
          <a:ln w="12700">
            <a:solidFill>
              <a:srgbClr val="3A4E74"/>
            </a:solidFill>
            <a:prstDash val="solid"/>
          </a:ln>
        </p:spPr>
      </p:sp>
      <p:sp>
        <p:nvSpPr>
          <p:cNvPr id="21" name="Text 19"/>
          <p:cNvSpPr/>
          <p:nvPr/>
        </p:nvSpPr>
        <p:spPr>
          <a:xfrm>
            <a:off x="9299448" y="2103120"/>
            <a:ext cx="548640" cy="54864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5</a:t>
            </a:r>
            <a:endParaRPr lang="en-US" sz="1800" dirty="0"/>
          </a:p>
        </p:txBody>
      </p:sp>
      <p:sp>
        <p:nvSpPr>
          <p:cNvPr id="22" name="Text 20"/>
          <p:cNvSpPr/>
          <p:nvPr/>
        </p:nvSpPr>
        <p:spPr>
          <a:xfrm>
            <a:off x="9299448" y="2834640"/>
            <a:ext cx="1901952" cy="2194560"/>
          </a:xfrm>
          <a:prstGeom prst="rect">
            <a:avLst/>
          </a:prstGeom>
          <a:noFill/>
          <a:ln/>
        </p:spPr>
        <p:txBody>
          <a:bodyPr wrap="square" rtlCol="0" anchor="t"/>
          <a:lstStyle/>
          <a:p>
            <a:pPr indent="0" marL="0">
              <a:buNone/>
            </a:pPr>
            <a:r>
              <a:rPr lang="en-US" sz="1400" dirty="0">
                <a:solidFill>
                  <a:srgbClr val="1F2A36"/>
                </a:solidFill>
                <a:latin typeface="Arial" pitchFamily="34" charset="0"/>
                <a:ea typeface="Arial" pitchFamily="34" charset="-122"/>
                <a:cs typeface="Arial" pitchFamily="34" charset="-120"/>
              </a:rPr>
              <a:t>Confirmar (COMMIT) se todos os passos funcionaram</a:t>
            </a:r>
            <a:endParaRPr lang="en-US" sz="14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Teste-se</a:t>
            </a:r>
            <a:endParaRPr lang="en-US" sz="1400" dirty="0"/>
          </a:p>
        </p:txBody>
      </p:sp>
      <p:sp>
        <p:nvSpPr>
          <p:cNvPr id="3" name="Text 1"/>
          <p:cNvSpPr/>
          <p:nvPr/>
        </p:nvSpPr>
        <p:spPr>
          <a:xfrm>
            <a:off x="960120" y="10972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1. Qual é o principal risco de guardar o mesmo cliente em vários arquivos?</a:t>
            </a:r>
            <a:endParaRPr lang="en-US" sz="1700" dirty="0"/>
          </a:p>
        </p:txBody>
      </p:sp>
      <p:sp>
        <p:nvSpPr>
          <p:cNvPr id="4" name="Text 2"/>
          <p:cNvSpPr/>
          <p:nvPr/>
        </p:nvSpPr>
        <p:spPr>
          <a:xfrm>
            <a:off x="960120" y="17830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As cópias ficam inconsistentes      B) Os arquivos carregam mais rápido      C) Os programas precisam de menos código</a:t>
            </a:r>
            <a:endParaRPr lang="en-US" sz="1400" dirty="0"/>
          </a:p>
        </p:txBody>
      </p:sp>
      <p:sp>
        <p:nvSpPr>
          <p:cNvPr id="5" name="Text 3"/>
          <p:cNvSpPr/>
          <p:nvPr/>
        </p:nvSpPr>
        <p:spPr>
          <a:xfrm>
            <a:off x="960120" y="26974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2. Qual afirmação é informação, e não apenas um dado?</a:t>
            </a:r>
            <a:endParaRPr lang="en-US" sz="1700" dirty="0"/>
          </a:p>
        </p:txBody>
      </p:sp>
      <p:sp>
        <p:nvSpPr>
          <p:cNvPr id="6" name="Text 4"/>
          <p:cNvSpPr/>
          <p:nvPr/>
        </p:nvSpPr>
        <p:spPr>
          <a:xfrm>
            <a:off x="960120" y="33832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"O cliente 2 mora em Lima"      B) "Lima"      C) "2"</a:t>
            </a:r>
            <a:endParaRPr lang="en-US" sz="1400" dirty="0"/>
          </a:p>
        </p:txBody>
      </p:sp>
      <p:sp>
        <p:nvSpPr>
          <p:cNvPr id="7" name="Text 5"/>
          <p:cNvSpPr/>
          <p:nvPr/>
        </p:nvSpPr>
        <p:spPr>
          <a:xfrm>
            <a:off x="960120" y="4297680"/>
            <a:ext cx="10424160" cy="685800"/>
          </a:xfrm>
          <a:prstGeom prst="rect">
            <a:avLst/>
          </a:prstGeom>
          <a:noFill/>
          <a:ln/>
        </p:spPr>
        <p:txBody>
          <a:bodyPr wrap="square" rtlCol="0" anchor="t"/>
          <a:lstStyle/>
          <a:p>
            <a:pPr indent="0" marL="0">
              <a:buNone/>
            </a:pPr>
            <a:r>
              <a:rPr lang="en-US" sz="1700" b="1" dirty="0">
                <a:solidFill>
                  <a:srgbClr val="1F2A36"/>
                </a:solidFill>
                <a:latin typeface="Arial" pitchFamily="34" charset="0"/>
                <a:ea typeface="Arial" pitchFamily="34" charset="-122"/>
                <a:cs typeface="Arial" pitchFamily="34" charset="-120"/>
              </a:rPr>
              <a:t>3. Uma analista de dados escreve suas próprias consultas SQL e pequenas ferramentas para estudar as vendas. Que tipo de usuária final ela é?</a:t>
            </a:r>
            <a:endParaRPr lang="en-US" sz="1700" dirty="0"/>
          </a:p>
        </p:txBody>
      </p:sp>
      <p:sp>
        <p:nvSpPr>
          <p:cNvPr id="8" name="Text 6"/>
          <p:cNvSpPr/>
          <p:nvPr/>
        </p:nvSpPr>
        <p:spPr>
          <a:xfrm>
            <a:off x="960120" y="4983480"/>
            <a:ext cx="10424160" cy="640080"/>
          </a:xfrm>
          <a:prstGeom prst="rect">
            <a:avLst/>
          </a:prstGeom>
          <a:noFill/>
          <a:ln/>
        </p:spPr>
        <p:txBody>
          <a:bodyPr wrap="square" rtlCol="0" anchor="t"/>
          <a:lstStyle/>
          <a:p>
            <a:pPr indent="0" marL="0">
              <a:buNone/>
            </a:pPr>
            <a:r>
              <a:rPr lang="en-US" sz="1400" dirty="0">
                <a:solidFill>
                  <a:srgbClr val="4E5A66"/>
                </a:solidFill>
                <a:latin typeface="Arial" pitchFamily="34" charset="0"/>
                <a:ea typeface="Arial" pitchFamily="34" charset="-122"/>
                <a:cs typeface="Arial" pitchFamily="34" charset="-120"/>
              </a:rPr>
              <a:t>A) Sofisticada      B) Paramétrica      C) Casual</a:t>
            </a:r>
            <a:endParaRPr lang="en-US" sz="1400" dirty="0"/>
          </a:p>
        </p:txBody>
      </p:sp>
      <p:sp>
        <p:nvSpPr>
          <p:cNvPr id="9" name="Text 7"/>
          <p:cNvSpPr/>
          <p:nvPr/>
        </p:nvSpPr>
        <p:spPr>
          <a:xfrm>
            <a:off x="960120" y="5897880"/>
            <a:ext cx="10058400" cy="320040"/>
          </a:xfrm>
          <a:prstGeom prst="rect">
            <a:avLst/>
          </a:prstGeom>
          <a:noFill/>
          <a:ln/>
        </p:spPr>
        <p:txBody>
          <a:bodyPr wrap="square" rtlCol="0" anchor="ctr"/>
          <a:lstStyle/>
          <a:p>
            <a:pPr indent="0" marL="0">
              <a:buNone/>
            </a:pPr>
            <a:r>
              <a:rPr lang="en-US" sz="1100" dirty="0">
                <a:solidFill>
                  <a:srgbClr val="7A828C"/>
                </a:solidFill>
                <a:latin typeface="Arial" pitchFamily="34" charset="0"/>
                <a:ea typeface="Arial" pitchFamily="34" charset="-122"/>
                <a:cs typeface="Arial" pitchFamily="34" charset="-120"/>
              </a:rPr>
              <a:t>As respostas estão nas notas do apresentador.</a:t>
            </a:r>
            <a:endParaRPr lang="en-US" sz="11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960120" y="502920"/>
            <a:ext cx="10515600" cy="41148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Pratique depois</a:t>
            </a:r>
            <a:endParaRPr lang="en-US" sz="1400" dirty="0"/>
          </a:p>
        </p:txBody>
      </p:sp>
      <p:sp>
        <p:nvSpPr>
          <p:cNvPr id="3" name="Text 1"/>
          <p:cNvSpPr/>
          <p:nvPr/>
        </p:nvSpPr>
        <p:spPr>
          <a:xfrm>
            <a:off x="960120" y="1188720"/>
            <a:ext cx="5029200" cy="457200"/>
          </a:xfrm>
          <a:prstGeom prst="rect">
            <a:avLst/>
          </a:prstGeom>
          <a:noFill/>
          <a:ln/>
        </p:spPr>
        <p:txBody>
          <a:bodyPr wrap="square" rtlCol="0" anchor="ctr"/>
          <a:lstStyle/>
          <a:p>
            <a:pPr indent="0" marL="0">
              <a:buNone/>
            </a:pPr>
            <a:r>
              <a:rPr lang="en-US" sz="1800" b="1" dirty="0">
                <a:solidFill>
                  <a:srgbClr val="3A4E74"/>
                </a:solidFill>
                <a:latin typeface="Arial" pitchFamily="34" charset="0"/>
                <a:ea typeface="Arial" pitchFamily="34" charset="-122"/>
                <a:cs typeface="Arial" pitchFamily="34" charset="-120"/>
              </a:rPr>
              <a:t>Laboratórios</a:t>
            </a:r>
            <a:endParaRPr lang="en-US" sz="1800" dirty="0"/>
          </a:p>
        </p:txBody>
      </p:sp>
      <p:sp>
        <p:nvSpPr>
          <p:cNvPr id="4" name="Text 2"/>
          <p:cNvSpPr/>
          <p:nvPr/>
        </p:nvSpPr>
        <p:spPr>
          <a:xfrm>
            <a:off x="960120" y="1691640"/>
            <a:ext cx="5029200" cy="3657600"/>
          </a:xfrm>
          <a:prstGeom prst="rect">
            <a:avLst/>
          </a:prstGeom>
          <a:noFill/>
          <a:ln/>
        </p:spPr>
        <p:txBody>
          <a:bodyPr wrap="square" rtlCol="0" anchor="t"/>
          <a:lstStyle/>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Primeiras consultas no Laboratório SQL</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Junte clientes e pedidos</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Veja a integridade e as transações em ação</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Projete uma biblioteca no Estúdio de design</a:t>
            </a:r>
            <a:endParaRPr lang="en-US" sz="1700" dirty="0"/>
          </a:p>
        </p:txBody>
      </p:sp>
      <p:sp>
        <p:nvSpPr>
          <p:cNvPr id="5" name="Text 3"/>
          <p:cNvSpPr/>
          <p:nvPr/>
        </p:nvSpPr>
        <p:spPr>
          <a:xfrm>
            <a:off x="6400800" y="1188720"/>
            <a:ext cx="5029200" cy="457200"/>
          </a:xfrm>
          <a:prstGeom prst="rect">
            <a:avLst/>
          </a:prstGeom>
          <a:noFill/>
          <a:ln/>
        </p:spPr>
        <p:txBody>
          <a:bodyPr wrap="square" rtlCol="0" anchor="ctr"/>
          <a:lstStyle/>
          <a:p>
            <a:pPr indent="0" marL="0">
              <a:buNone/>
            </a:pPr>
            <a:r>
              <a:rPr lang="en-US" sz="1800" b="1" dirty="0">
                <a:solidFill>
                  <a:srgbClr val="3A4E74"/>
                </a:solidFill>
                <a:latin typeface="Arial" pitchFamily="34" charset="0"/>
                <a:ea typeface="Arial" pitchFamily="34" charset="-122"/>
                <a:cs typeface="Arial" pitchFamily="34" charset="-120"/>
              </a:rPr>
              <a:t>No site</a:t>
            </a:r>
            <a:endParaRPr lang="en-US" sz="1800" dirty="0"/>
          </a:p>
        </p:txBody>
      </p:sp>
      <p:sp>
        <p:nvSpPr>
          <p:cNvPr id="6" name="Text 4"/>
          <p:cNvSpPr/>
          <p:nvPr/>
        </p:nvSpPr>
        <p:spPr>
          <a:xfrm>
            <a:off x="6400800" y="1691640"/>
            <a:ext cx="5029200" cy="3657600"/>
          </a:xfrm>
          <a:prstGeom prst="rect">
            <a:avLst/>
          </a:prstGeom>
          <a:noFill/>
          <a:ln/>
        </p:spPr>
        <p:txBody>
          <a:bodyPr wrap="square" rtlCol="0" anchor="t"/>
          <a:lstStyle/>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Estúdio de design</a:t>
            </a:r>
            <a:endParaRPr lang="en-US" sz="1700" dirty="0"/>
          </a:p>
          <a:p>
            <a:pPr marL="342900" indent="-342900">
              <a:spcAft>
                <a:spcPts val="600"/>
              </a:spcAft>
              <a:buSzPct val="100000"/>
              <a:buChar char="•"/>
            </a:pPr>
            <a:r>
              <a:rPr lang="en-US" sz="1700" dirty="0">
                <a:solidFill>
                  <a:srgbClr val="1F2A36"/>
                </a:solidFill>
                <a:latin typeface="Arial" pitchFamily="34" charset="0"/>
                <a:ea typeface="Arial" pitchFamily="34" charset="-122"/>
                <a:cs typeface="Arial" pitchFamily="34" charset="-120"/>
              </a:rPr>
              <a:t>Laboratório SQL</a:t>
            </a:r>
            <a:endParaRPr lang="en-US" sz="17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Sistemas de gerenciamento de bancos de dados · SE Study Lab</dc:title>
  <dc:subject>PptxGenJS Presentation</dc:subject>
  <dc:creator>PptxGenJS</dc:creator>
  <cp:lastModifiedBy>PptxGenJS</cp:lastModifiedBy>
  <cp:revision>1</cp:revision>
  <dcterms:created xsi:type="dcterms:W3CDTF">2026-10-29T20:39:15Z</dcterms:created>
  <dcterms:modified xsi:type="dcterms:W3CDTF">2026-10-29T20:39:15Z</dcterms:modified>
</cp:coreProperties>
</file>