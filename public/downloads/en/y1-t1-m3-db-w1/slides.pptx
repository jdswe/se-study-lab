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databases, each program kept its data in its own simple files: one record after another, in a format only that program understood. A sales program had a customer file; the billing program had another customer file. Nothing was shared, so the same customer appeared in several places, and sometimes several times inside the same file.
As companies came to depend on their data, the problems became serious. Redundant copies drifted apart, so the same customer could have two different addresses. Sharing data between applications meant copying it. A damaged file often could not be rebuilt. Anyone who could open a file could read all of it. And because each program knew the exact layout of its files, any change in the layout forced programmers to rewrite code.
The answer was the database management system (DBMS): one piece of software that stores the data once, describes its structure, and lets many programs and people use it safely. In 1970, Edgar F. Codd proposed the relational model, which organises data in tables linked by keys. Over the following decade it went from a research idea to the foundation of most business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are raw facts that can be recorded, such as "35000" or "F". On their own they are ambiguous: "F" could mean female in one context and false in another. Information is data given context and meaning: "the USB drive costs 35,000 pesos". Knowledge is the understanding people build on top of information, such as "the USB drive sells best at the start of term".
A database is an organised collection of related data with a purpose. It represents part of the real world, sometimes called the mini-world or universe of discourse, such as a campus store. Its data are logically coherent: random facts, even if true, are not a database. And it is designed, built, and filled for specific users and uses.
A database also describes itself. Besides the data, it stores a catalogue with the structure of every table, the type of every column, and the rules the data must follow. This data about data is called metadata. Programs, and the DBMS itself, read the catalogue to know how the data are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database management system is general-purpose software for creating and maintaining databases. It does four jobs. It defines the database: tables, data types, and rules. It constructs it: stores the data on disk under its own control. It manipulates it: answers queries, inserts, updates, and reports. And it shares it: many users and programs work with the same data at the same time.
Well-known DBMSs include PostgreSQL, MySQL, SQL Server, Oracle Database, and SQLite for relational data, and MongoDB or Redis for other data models. The DBMS together with the data and the application programs that use it is called a database system.
Compared with files, a DBMS brings real advantages: it controls redundancy, enforces access rules, uses indexes and a query optimiser to answer quickly, backs up and recovers data after failures, represents complex relationships, and enforces integrity rules, also called business rules, such as "a price cannot be negative".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roles share a database. The database administrator (DBA) authorises access, monitors performance and security, controls changes to the structure, and plans hardware and software. The database designer decides which data to store and how to structure it, talks with future users, defines integrity rules, and designs views for each group.
Systems analysts find out what end users need and specify the transactions that serve them. Application programmers turn those specifications into programs, then test, document, and maintain them.
End users are the reason the database exists. Casual users query it now and then, each time asking something different. Parametric users, such as a cashier, repeat the same standard operations all day. Sophisticated users, such as data analysts, write their own queries and tools. Stand-alone users keep a personal database for their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relational model, data live in tables. Each table, formally a relation, represents one kind of thing, such as Product. Each column, or attribute, holds one property, such as price. Each row, also called a record or tuple, describes one specific thing: product 20, a USB drive that costs 35,000.
The schema is the structure: table names, columns, and their data types. The data, sometimes called the instance, is the content at a given moment. Adding a stock column changes the schema; changing a price changes only the data. Common data types are integers, decimals, text such as VARCHAR(60), booleans, dates, and timestamps.
The relational model is not the only one. Hierarchical databases organise records as trees, like an organisation chart. Network databases connect records with links. Object-oriented databases store objects with their methods. Many modern NoSQL systems use documents or key-value pairs. The relational model remains the starting point because tables and keys are simple and powerful.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primary key (PK) identifies each row of a table. It must be unique and never empty. In Customer, customer_id 1, 2, and 3 each appear once. Two customers with id 2 would break the key.
A foreign key (FK) is a column that stores the primary key of another table, creating a relationship. Order has a customer_id column pointing to Customer. One customer can place many orders, so this is a one-to-many (1:N) relationship. The DBMS can refuse an order for customer 99 if no such customer exists: that is referential integrity.
Some relationships are many-to-many (N:M): an order can include several products, and a product can appear in several orders. Relational databases model this with an intermediate table, often called a junction table, such as Order_Item with order_id, product_id, and quantity. Its primary key combines both foreign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Integrity constraints are rules the DBMS enforces so invalid data never gets in. PRIMARY KEY forbids repeated identifiers. FOREIGN KEY keeps relationships valid. NOT NULL requires a value. CHECK tests a condition, such as price &gt;= 0. Because the database enforces them, every application gets the same protection.
A transaction groups several operations into one unit: all or nothing. Selling a USB drive means creating the order, adding the item, and reducing stock. If every step succeeds, the transaction is committed (COMMIT). If any step fails, all changes are undone (ROLLBACK), so the database never stays half-updated.
The DBMS also coordinates concurrent users: if two cashiers try to sell the last USB drive at the same time, only one sale may succeed. It keeps a log of changes to recover after failures, supports regular backups and a recovery plan, and controls security with roles and permissions, following the principle of least privilege: each user gets only the access they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three-schema architecture separates how data is seen, organised, and stored. The external level holds the views of each user group: a cashier sees orders and prices. The conceptual level describes the whole database logically: Customer, Order, Product, and their relationships. The internal level describes physical storage: files, pages, and indexes.
This separation gives data independence. Physical independence means the storage can change, for example by adding an index, without changing the applications. Logical independence means the conceptual schema can grow, for example with a new table, without breaking existing views. A view is a named query: CREATE VIEW expensive_products AS SELECT … lets users query a tailored subset as if it were a table, and can also hide sensitive columns.
Most databases follow a client-server architecture: the application, the client, sends SQL; the server, the DBMS, validates it, plans it, and runs it. An index works like the index of a book: it finds rows without reading the whole table. The query optimiser chooses an execution plan, for example whether to use an index. Indexes speed up reads but take space and must be updated on every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SQL is the language for working with relational data. A query starts with three words: SELECT says which columns to show, FROM says which table to read, and WHERE says which rows qualify. SELECT name, price FROM product WHERE price &gt; 20000; returns only the products that cost more than 20,000.
AND combines conditions, and ORDER BY sorts the result: ORDER BY price DESC goes from highest to lowest. JOIN brings related tables together using their keys: joining Customer and Order on customer_id lists each customer with their orders, so a customer with two orders appears twice.
SQL also changes data. INSERT adds a row, UPDATE changes rows, and DELETE removes rows. Always write a WHERE clause on UPDATE and DELETE: without it, the change applies to every row in the table. Try every query in this week's SQL Lab, which runs a real database in your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Answer: A — When one copy changes and the others do not, the data contradict each other.
2. Answer: A — It places the values in context. Alone, "Lima" or "2" have no clear meaning.
3. Answer: A — Sophisticated users know the database well enough to build their own queries and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2EA"/>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2F6F73"/>
          </a:solidFill>
          <a:ln/>
        </p:spPr>
      </p:sp>
      <p:sp>
        <p:nvSpPr>
          <p:cNvPr id="3" name="Text 1"/>
          <p:cNvSpPr/>
          <p:nvPr/>
        </p:nvSpPr>
        <p:spPr>
          <a:xfrm>
            <a:off x="457200" y="6400800"/>
            <a:ext cx="8229600" cy="274320"/>
          </a:xfrm>
          <a:prstGeom prst="rect">
            <a:avLst/>
          </a:prstGeom>
          <a:noFill/>
          <a:ln/>
        </p:spPr>
        <p:txBody>
          <a:bodyPr wrap="square" rtlCol="0" anchor="ctr"/>
          <a:lstStyle/>
          <a:p>
            <a:pPr indent="0" marL="0">
              <a:buNone/>
            </a:pPr>
            <a:r>
              <a:rPr lang="en-US" sz="1000" dirty="0">
                <a:solidFill>
                  <a:srgbClr val="7A828C"/>
                </a:solidFill>
                <a:latin typeface="Arial" pitchFamily="34" charset="0"/>
                <a:ea typeface="Arial" pitchFamily="34" charset="-122"/>
                <a:cs typeface="Arial" pitchFamily="34" charset="-120"/>
              </a:rPr>
              <a:t>SE Study Lab · Year 1 · Term 1 · Module 3 · Week 1</a:t>
            </a:r>
            <a:endParaRPr lang="en-US" sz="10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6"/>
        </a:solidFill>
      </p:bgPr>
    </p:bg>
    <p:spTree>
      <p:nvGrpSpPr>
        <p:cNvPr id="1" name=""/>
        <p:cNvGrpSpPr/>
        <p:nvPr/>
      </p:nvGrpSpPr>
      <p:grpSpPr>
        <a:xfrm>
          <a:off x="0" y="0"/>
          <a:ext cx="0" cy="0"/>
          <a:chOff x="0" y="0"/>
          <a:chExt cx="0" cy="0"/>
        </a:xfrm>
      </p:grpSpPr>
      <p:sp>
        <p:nvSpPr>
          <p:cNvPr id="2" name="Shape 0"/>
          <p:cNvSpPr/>
          <p:nvPr/>
        </p:nvSpPr>
        <p:spPr>
          <a:xfrm>
            <a:off x="8412480" y="-1463040"/>
            <a:ext cx="5486400" cy="5486400"/>
          </a:xfrm>
          <a:prstGeom prst="ellipse">
            <a:avLst/>
          </a:prstGeom>
          <a:solidFill>
            <a:srgbClr val="2F6F73">
              <a:alpha val="65000"/>
            </a:srgbClr>
          </a:solidFill>
          <a:ln w="12700">
            <a:solidFill>
              <a:srgbClr val="2F6F73">
                <a:alpha val="0"/>
              </a:srgbClr>
            </a:solidFill>
            <a:prstDash val="solid"/>
          </a:ln>
        </p:spPr>
      </p:sp>
      <p:sp>
        <p:nvSpPr>
          <p:cNvPr id="3" name="Shape 1"/>
          <p:cNvSpPr/>
          <p:nvPr/>
        </p:nvSpPr>
        <p:spPr>
          <a:xfrm>
            <a:off x="9875520" y="3474720"/>
            <a:ext cx="3657600" cy="3657600"/>
          </a:xfrm>
          <a:prstGeom prst="ellipse">
            <a:avLst/>
          </a:prstGeom>
          <a:solidFill>
            <a:srgbClr val="C0704F">
              <a:alpha val="55000"/>
            </a:srgbClr>
          </a:solidFill>
          <a:ln w="12700">
            <a:solidFill>
              <a:srgbClr val="C0704F">
                <a:alpha val="0"/>
              </a:srgbClr>
            </a:solidFill>
            <a:prstDash val="solid"/>
          </a:ln>
        </p:spPr>
      </p:sp>
      <p:sp>
        <p:nvSpPr>
          <p:cNvPr id="4" name="Text 2"/>
          <p:cNvSpPr/>
          <p:nvPr/>
        </p:nvSpPr>
        <p:spPr>
          <a:xfrm>
            <a:off x="640080" y="1280160"/>
            <a:ext cx="8229600" cy="365760"/>
          </a:xfrm>
          <a:prstGeom prst="rect">
            <a:avLst/>
          </a:prstGeom>
          <a:noFill/>
          <a:ln/>
        </p:spPr>
        <p:txBody>
          <a:bodyPr wrap="square" rtlCol="0" anchor="ctr"/>
          <a:lstStyle/>
          <a:p>
            <a:pPr indent="0" marL="0">
              <a:buNone/>
            </a:pPr>
            <a:r>
              <a:rPr lang="en-US" sz="1400" b="1" spc="300" kern="0" dirty="0">
                <a:solidFill>
                  <a:srgbClr val="B98A3E"/>
                </a:solidFill>
                <a:latin typeface="Arial" pitchFamily="34" charset="0"/>
                <a:ea typeface="Arial" pitchFamily="34" charset="-122"/>
                <a:cs typeface="Arial" pitchFamily="34" charset="-120"/>
              </a:rPr>
              <a:t>YEAR 1 · TERM 1 · MODULE 3 · WEEK 1</a:t>
            </a:r>
            <a:endParaRPr lang="en-US" sz="1400" dirty="0"/>
          </a:p>
        </p:txBody>
      </p:sp>
      <p:sp>
        <p:nvSpPr>
          <p:cNvPr id="5" name="Text 3"/>
          <p:cNvSpPr/>
          <p:nvPr/>
        </p:nvSpPr>
        <p:spPr>
          <a:xfrm>
            <a:off x="640080" y="1737360"/>
            <a:ext cx="8412480" cy="2011680"/>
          </a:xfrm>
          <a:prstGeom prst="rect">
            <a:avLst/>
          </a:prstGeom>
          <a:noFill/>
          <a:ln/>
        </p:spPr>
        <p:txBody>
          <a:bodyPr wrap="square" rtlCol="0" anchor="t"/>
          <a:lstStyle/>
          <a:p>
            <a:pPr indent="0" marL="0">
              <a:buNone/>
            </a:pPr>
            <a:r>
              <a:rPr lang="en-US" sz="4000" b="1" dirty="0">
                <a:solidFill>
                  <a:srgbClr val="FFFDF8"/>
                </a:solidFill>
                <a:latin typeface="Arial" pitchFamily="34" charset="0"/>
                <a:ea typeface="Arial" pitchFamily="34" charset="-122"/>
                <a:cs typeface="Arial" pitchFamily="34" charset="-120"/>
              </a:rPr>
              <a:t>Database management systems</a:t>
            </a:r>
            <a:endParaRPr lang="en-US" sz="4000" dirty="0"/>
          </a:p>
        </p:txBody>
      </p:sp>
      <p:sp>
        <p:nvSpPr>
          <p:cNvPr id="6" name="Text 4"/>
          <p:cNvSpPr/>
          <p:nvPr/>
        </p:nvSpPr>
        <p:spPr>
          <a:xfrm>
            <a:off x="640080" y="3840480"/>
            <a:ext cx="7863840" cy="1463040"/>
          </a:xfrm>
          <a:prstGeom prst="rect">
            <a:avLst/>
          </a:prstGeom>
          <a:noFill/>
          <a:ln/>
        </p:spPr>
        <p:txBody>
          <a:bodyPr wrap="square" rtlCol="0" anchor="t"/>
          <a:lstStyle/>
          <a:p>
            <a:pPr indent="0" marL="0">
              <a:buNone/>
            </a:pPr>
            <a:r>
              <a:rPr lang="en-US" sz="1500" dirty="0">
                <a:solidFill>
                  <a:srgbClr val="C6C0B3"/>
                </a:solidFill>
                <a:latin typeface="Arial" pitchFamily="34" charset="0"/>
                <a:ea typeface="Arial" pitchFamily="34" charset="-122"/>
                <a:cs typeface="Arial" pitchFamily="34" charset="-120"/>
              </a:rPr>
              <a:t>Organisations run on data. This week you see why scattered files failed, what a database and a DBMS are, who works with them, and how the relational model organises data in tables linked by keys. You will protect data with constraints and transactions, and write your first SQL queries in a real database inside your browser.</a:t>
            </a:r>
            <a:endParaRPr lang="en-US" sz="1500" dirty="0"/>
          </a:p>
        </p:txBody>
      </p:sp>
      <p:sp>
        <p:nvSpPr>
          <p:cNvPr id="7" name="Text 5"/>
          <p:cNvSpPr/>
          <p:nvPr/>
        </p:nvSpPr>
        <p:spPr>
          <a:xfrm>
            <a:off x="640080" y="6035040"/>
            <a:ext cx="9144000" cy="365760"/>
          </a:xfrm>
          <a:prstGeom prst="rect">
            <a:avLst/>
          </a:prstGeom>
          <a:noFill/>
          <a:ln/>
        </p:spPr>
        <p:txBody>
          <a:bodyPr wrap="square" rtlCol="0" anchor="ctr"/>
          <a:lstStyle/>
          <a:p>
            <a:pPr indent="0" marL="0">
              <a:buNone/>
            </a:pPr>
            <a:r>
              <a:rPr lang="en-US" sz="1000" i="1" dirty="0">
                <a:solidFill>
                  <a:srgbClr val="7A828C"/>
                </a:solidFill>
                <a:latin typeface="Arial" pitchFamily="34" charset="0"/>
                <a:ea typeface="Arial" pitchFamily="34" charset="-122"/>
                <a:cs typeface="Arial" pitchFamily="34" charset="-120"/>
              </a:rPr>
              <a:t>SE Study Lab · Study material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3000" b="1" dirty="0">
                <a:solidFill>
                  <a:srgbClr val="1F2A36"/>
                </a:solidFill>
                <a:latin typeface="Arial" pitchFamily="34" charset="0"/>
                <a:ea typeface="Arial" pitchFamily="34" charset="-122"/>
                <a:cs typeface="Arial" pitchFamily="34" charset="-120"/>
              </a:rPr>
              <a:t>Learning objectives</a:t>
            </a:r>
            <a:endParaRPr lang="en-US" sz="3000" dirty="0"/>
          </a:p>
        </p:txBody>
      </p:sp>
      <p:sp>
        <p:nvSpPr>
          <p:cNvPr id="3" name="Text 1"/>
          <p:cNvSpPr/>
          <p:nvPr/>
        </p:nvSpPr>
        <p:spPr>
          <a:xfrm>
            <a:off x="731520" y="1280160"/>
            <a:ext cx="10607040" cy="4754880"/>
          </a:xfrm>
          <a:prstGeom prst="rect">
            <a:avLst/>
          </a:prstGeom>
          <a:noFill/>
          <a:ln/>
        </p:spPr>
        <p:txBody>
          <a:bodyPr wrap="square" rtlCol="0" anchor="t"/>
          <a:lstStyle/>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Explain the problems of file-based systems and how a DBMS solves them.</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Distinguish data, information, database, DBMS, and database system.</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Identify the roles that work with a database.</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Read and design tables with primary keys, foreign keys, and N:M junction tables.</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Explain integrity constraints, transactions, and the three-schema architecture.</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Write SELECT queries with WHERE, ORDER BY, and JOIN.</a:t>
            </a:r>
            <a:endParaRPr lang="en-US" sz="18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3000" b="1" dirty="0">
                <a:solidFill>
                  <a:srgbClr val="1F2A36"/>
                </a:solidFill>
                <a:latin typeface="Arial" pitchFamily="34" charset="0"/>
                <a:ea typeface="Arial" pitchFamily="34" charset="-122"/>
                <a:cs typeface="Arial" pitchFamily="34" charset="-120"/>
              </a:rPr>
              <a:t>Agenda</a:t>
            </a:r>
            <a:endParaRPr lang="en-US" sz="3000" dirty="0"/>
          </a:p>
        </p:txBody>
      </p:sp>
      <p:sp>
        <p:nvSpPr>
          <p:cNvPr id="3" name="Shape 1"/>
          <p:cNvSpPr/>
          <p:nvPr/>
        </p:nvSpPr>
        <p:spPr>
          <a:xfrm>
            <a:off x="548640" y="1371600"/>
            <a:ext cx="2651760" cy="2103120"/>
          </a:xfrm>
          <a:prstGeom prst="roundRect">
            <a:avLst>
              <a:gd name="adj" fmla="val 6522"/>
            </a:avLst>
          </a:prstGeom>
          <a:solidFill>
            <a:srgbClr val="FFFDF8"/>
          </a:solidFill>
          <a:ln w="25400">
            <a:solidFill>
              <a:srgbClr val="2F6F73"/>
            </a:solidFill>
            <a:prstDash val="solid"/>
          </a:ln>
        </p:spPr>
      </p:sp>
      <p:sp>
        <p:nvSpPr>
          <p:cNvPr id="4" name="Text 2"/>
          <p:cNvSpPr/>
          <p:nvPr/>
        </p:nvSpPr>
        <p:spPr>
          <a:xfrm>
            <a:off x="731520" y="1508760"/>
            <a:ext cx="1097280" cy="548640"/>
          </a:xfrm>
          <a:prstGeom prst="rect">
            <a:avLst/>
          </a:prstGeom>
          <a:noFill/>
          <a:ln/>
        </p:spPr>
        <p:txBody>
          <a:bodyPr wrap="square" rtlCol="0" anchor="ctr"/>
          <a:lstStyle/>
          <a:p>
            <a:pPr indent="0" marL="0">
              <a:buNone/>
            </a:pPr>
            <a:r>
              <a:rPr lang="en-US" sz="2600" b="1" dirty="0">
                <a:solidFill>
                  <a:srgbClr val="2F6F73"/>
                </a:solidFill>
                <a:latin typeface="Arial" pitchFamily="34" charset="0"/>
                <a:ea typeface="Arial" pitchFamily="34" charset="-122"/>
                <a:cs typeface="Arial" pitchFamily="34" charset="-120"/>
              </a:rPr>
              <a:t>01</a:t>
            </a:r>
            <a:endParaRPr lang="en-US" sz="2600" dirty="0"/>
          </a:p>
        </p:txBody>
      </p:sp>
      <p:sp>
        <p:nvSpPr>
          <p:cNvPr id="5" name="Text 3"/>
          <p:cNvSpPr/>
          <p:nvPr/>
        </p:nvSpPr>
        <p:spPr>
          <a:xfrm>
            <a:off x="731520" y="210312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From files to databases</a:t>
            </a:r>
            <a:endParaRPr lang="en-US" sz="1300" dirty="0"/>
          </a:p>
        </p:txBody>
      </p:sp>
      <p:sp>
        <p:nvSpPr>
          <p:cNvPr id="6" name="Shape 4"/>
          <p:cNvSpPr/>
          <p:nvPr/>
        </p:nvSpPr>
        <p:spPr>
          <a:xfrm>
            <a:off x="3383280" y="1371600"/>
            <a:ext cx="2651760" cy="2103120"/>
          </a:xfrm>
          <a:prstGeom prst="roundRect">
            <a:avLst>
              <a:gd name="adj" fmla="val 6522"/>
            </a:avLst>
          </a:prstGeom>
          <a:solidFill>
            <a:srgbClr val="FFFDF8"/>
          </a:solidFill>
          <a:ln w="25400">
            <a:solidFill>
              <a:srgbClr val="C0704F"/>
            </a:solidFill>
            <a:prstDash val="solid"/>
          </a:ln>
        </p:spPr>
      </p:sp>
      <p:sp>
        <p:nvSpPr>
          <p:cNvPr id="7" name="Text 5"/>
          <p:cNvSpPr/>
          <p:nvPr/>
        </p:nvSpPr>
        <p:spPr>
          <a:xfrm>
            <a:off x="3566160" y="1508760"/>
            <a:ext cx="1097280" cy="548640"/>
          </a:xfrm>
          <a:prstGeom prst="rect">
            <a:avLst/>
          </a:prstGeom>
          <a:noFill/>
          <a:ln/>
        </p:spPr>
        <p:txBody>
          <a:bodyPr wrap="square" rtlCol="0" anchor="ctr"/>
          <a:lstStyle/>
          <a:p>
            <a:pPr indent="0" marL="0">
              <a:buNone/>
            </a:pPr>
            <a:r>
              <a:rPr lang="en-US" sz="2600" b="1" dirty="0">
                <a:solidFill>
                  <a:srgbClr val="C0704F"/>
                </a:solidFill>
                <a:latin typeface="Arial" pitchFamily="34" charset="0"/>
                <a:ea typeface="Arial" pitchFamily="34" charset="-122"/>
                <a:cs typeface="Arial" pitchFamily="34" charset="-120"/>
              </a:rPr>
              <a:t>02</a:t>
            </a:r>
            <a:endParaRPr lang="en-US" sz="2600" dirty="0"/>
          </a:p>
        </p:txBody>
      </p:sp>
      <p:sp>
        <p:nvSpPr>
          <p:cNvPr id="8" name="Text 6"/>
          <p:cNvSpPr/>
          <p:nvPr/>
        </p:nvSpPr>
        <p:spPr>
          <a:xfrm>
            <a:off x="3566160" y="210312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Data, information, and what a database is</a:t>
            </a:r>
            <a:endParaRPr lang="en-US" sz="1300" dirty="0"/>
          </a:p>
        </p:txBody>
      </p:sp>
      <p:sp>
        <p:nvSpPr>
          <p:cNvPr id="9" name="Shape 7"/>
          <p:cNvSpPr/>
          <p:nvPr/>
        </p:nvSpPr>
        <p:spPr>
          <a:xfrm>
            <a:off x="6217920" y="1371600"/>
            <a:ext cx="2651760" cy="2103120"/>
          </a:xfrm>
          <a:prstGeom prst="roundRect">
            <a:avLst>
              <a:gd name="adj" fmla="val 6522"/>
            </a:avLst>
          </a:prstGeom>
          <a:solidFill>
            <a:srgbClr val="FFFDF8"/>
          </a:solidFill>
          <a:ln w="25400">
            <a:solidFill>
              <a:srgbClr val="3A4E74"/>
            </a:solidFill>
            <a:prstDash val="solid"/>
          </a:ln>
        </p:spPr>
      </p:sp>
      <p:sp>
        <p:nvSpPr>
          <p:cNvPr id="10" name="Text 8"/>
          <p:cNvSpPr/>
          <p:nvPr/>
        </p:nvSpPr>
        <p:spPr>
          <a:xfrm>
            <a:off x="6400800" y="1508760"/>
            <a:ext cx="1097280" cy="548640"/>
          </a:xfrm>
          <a:prstGeom prst="rect">
            <a:avLst/>
          </a:prstGeom>
          <a:noFill/>
          <a:ln/>
        </p:spPr>
        <p:txBody>
          <a:bodyPr wrap="square" rtlCol="0" anchor="ctr"/>
          <a:lstStyle/>
          <a:p>
            <a:pPr indent="0" marL="0">
              <a:buNone/>
            </a:pPr>
            <a:r>
              <a:rPr lang="en-US" sz="2600" b="1" dirty="0">
                <a:solidFill>
                  <a:srgbClr val="3A4E74"/>
                </a:solidFill>
                <a:latin typeface="Arial" pitchFamily="34" charset="0"/>
                <a:ea typeface="Arial" pitchFamily="34" charset="-122"/>
                <a:cs typeface="Arial" pitchFamily="34" charset="-120"/>
              </a:rPr>
              <a:t>03</a:t>
            </a:r>
            <a:endParaRPr lang="en-US" sz="2600" dirty="0"/>
          </a:p>
        </p:txBody>
      </p:sp>
      <p:sp>
        <p:nvSpPr>
          <p:cNvPr id="11" name="Text 9"/>
          <p:cNvSpPr/>
          <p:nvPr/>
        </p:nvSpPr>
        <p:spPr>
          <a:xfrm>
            <a:off x="6400800" y="210312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What a DBMS does</a:t>
            </a:r>
            <a:endParaRPr lang="en-US" sz="1300" dirty="0"/>
          </a:p>
        </p:txBody>
      </p:sp>
      <p:sp>
        <p:nvSpPr>
          <p:cNvPr id="12" name="Shape 10"/>
          <p:cNvSpPr/>
          <p:nvPr/>
        </p:nvSpPr>
        <p:spPr>
          <a:xfrm>
            <a:off x="9052560" y="1371600"/>
            <a:ext cx="2651760" cy="2103120"/>
          </a:xfrm>
          <a:prstGeom prst="roundRect">
            <a:avLst>
              <a:gd name="adj" fmla="val 6522"/>
            </a:avLst>
          </a:prstGeom>
          <a:solidFill>
            <a:srgbClr val="FFFDF8"/>
          </a:solidFill>
          <a:ln w="25400">
            <a:solidFill>
              <a:srgbClr val="7A6A8C"/>
            </a:solidFill>
            <a:prstDash val="solid"/>
          </a:ln>
        </p:spPr>
      </p:sp>
      <p:sp>
        <p:nvSpPr>
          <p:cNvPr id="13" name="Text 11"/>
          <p:cNvSpPr/>
          <p:nvPr/>
        </p:nvSpPr>
        <p:spPr>
          <a:xfrm>
            <a:off x="9235440" y="1508760"/>
            <a:ext cx="1097280" cy="548640"/>
          </a:xfrm>
          <a:prstGeom prst="rect">
            <a:avLst/>
          </a:prstGeom>
          <a:noFill/>
          <a:ln/>
        </p:spPr>
        <p:txBody>
          <a:bodyPr wrap="square" rtlCol="0" anchor="ctr"/>
          <a:lstStyle/>
          <a:p>
            <a:pPr indent="0" marL="0">
              <a:buNone/>
            </a:pPr>
            <a:r>
              <a:rPr lang="en-US" sz="2600" b="1" dirty="0">
                <a:solidFill>
                  <a:srgbClr val="7A6A8C"/>
                </a:solidFill>
                <a:latin typeface="Arial" pitchFamily="34" charset="0"/>
                <a:ea typeface="Arial" pitchFamily="34" charset="-122"/>
                <a:cs typeface="Arial" pitchFamily="34" charset="-120"/>
              </a:rPr>
              <a:t>04</a:t>
            </a:r>
            <a:endParaRPr lang="en-US" sz="2600" dirty="0"/>
          </a:p>
        </p:txBody>
      </p:sp>
      <p:sp>
        <p:nvSpPr>
          <p:cNvPr id="14" name="Text 12"/>
          <p:cNvSpPr/>
          <p:nvPr/>
        </p:nvSpPr>
        <p:spPr>
          <a:xfrm>
            <a:off x="9235440" y="210312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Who works with a database</a:t>
            </a:r>
            <a:endParaRPr lang="en-US" sz="1300" dirty="0"/>
          </a:p>
        </p:txBody>
      </p:sp>
      <p:sp>
        <p:nvSpPr>
          <p:cNvPr id="15" name="Shape 13"/>
          <p:cNvSpPr/>
          <p:nvPr/>
        </p:nvSpPr>
        <p:spPr>
          <a:xfrm>
            <a:off x="548640" y="3749040"/>
            <a:ext cx="2651760" cy="2103120"/>
          </a:xfrm>
          <a:prstGeom prst="roundRect">
            <a:avLst>
              <a:gd name="adj" fmla="val 6522"/>
            </a:avLst>
          </a:prstGeom>
          <a:solidFill>
            <a:srgbClr val="FFFDF8"/>
          </a:solidFill>
          <a:ln w="25400">
            <a:solidFill>
              <a:srgbClr val="5E8C7A"/>
            </a:solidFill>
            <a:prstDash val="solid"/>
          </a:ln>
        </p:spPr>
      </p:sp>
      <p:sp>
        <p:nvSpPr>
          <p:cNvPr id="16" name="Text 14"/>
          <p:cNvSpPr/>
          <p:nvPr/>
        </p:nvSpPr>
        <p:spPr>
          <a:xfrm>
            <a:off x="731520" y="3886200"/>
            <a:ext cx="1097280" cy="548640"/>
          </a:xfrm>
          <a:prstGeom prst="rect">
            <a:avLst/>
          </a:prstGeom>
          <a:noFill/>
          <a:ln/>
        </p:spPr>
        <p:txBody>
          <a:bodyPr wrap="square" rtlCol="0" anchor="ctr"/>
          <a:lstStyle/>
          <a:p>
            <a:pPr indent="0" marL="0">
              <a:buNone/>
            </a:pPr>
            <a:r>
              <a:rPr lang="en-US" sz="2600" b="1" dirty="0">
                <a:solidFill>
                  <a:srgbClr val="5E8C7A"/>
                </a:solidFill>
                <a:latin typeface="Arial" pitchFamily="34" charset="0"/>
                <a:ea typeface="Arial" pitchFamily="34" charset="-122"/>
                <a:cs typeface="Arial" pitchFamily="34" charset="-120"/>
              </a:rPr>
              <a:t>05</a:t>
            </a:r>
            <a:endParaRPr lang="en-US" sz="2600" dirty="0"/>
          </a:p>
        </p:txBody>
      </p:sp>
      <p:sp>
        <p:nvSpPr>
          <p:cNvPr id="17" name="Text 15"/>
          <p:cNvSpPr/>
          <p:nvPr/>
        </p:nvSpPr>
        <p:spPr>
          <a:xfrm>
            <a:off x="731520" y="448056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The relational model: tables, rows, and columns</a:t>
            </a:r>
            <a:endParaRPr lang="en-US" sz="1300" dirty="0"/>
          </a:p>
        </p:txBody>
      </p:sp>
      <p:sp>
        <p:nvSpPr>
          <p:cNvPr id="18" name="Shape 16"/>
          <p:cNvSpPr/>
          <p:nvPr/>
        </p:nvSpPr>
        <p:spPr>
          <a:xfrm>
            <a:off x="3383280" y="3749040"/>
            <a:ext cx="2651760" cy="2103120"/>
          </a:xfrm>
          <a:prstGeom prst="roundRect">
            <a:avLst>
              <a:gd name="adj" fmla="val 6522"/>
            </a:avLst>
          </a:prstGeom>
          <a:solidFill>
            <a:srgbClr val="FFFDF8"/>
          </a:solidFill>
          <a:ln w="25400">
            <a:solidFill>
              <a:srgbClr val="B98A3E"/>
            </a:solidFill>
            <a:prstDash val="solid"/>
          </a:ln>
        </p:spPr>
      </p:sp>
      <p:sp>
        <p:nvSpPr>
          <p:cNvPr id="19" name="Text 17"/>
          <p:cNvSpPr/>
          <p:nvPr/>
        </p:nvSpPr>
        <p:spPr>
          <a:xfrm>
            <a:off x="3566160" y="3886200"/>
            <a:ext cx="1097280" cy="548640"/>
          </a:xfrm>
          <a:prstGeom prst="rect">
            <a:avLst/>
          </a:prstGeom>
          <a:noFill/>
          <a:ln/>
        </p:spPr>
        <p:txBody>
          <a:bodyPr wrap="square" rtlCol="0" anchor="ctr"/>
          <a:lstStyle/>
          <a:p>
            <a:pPr indent="0" marL="0">
              <a:buNone/>
            </a:pPr>
            <a:r>
              <a:rPr lang="en-US" sz="2600" b="1" dirty="0">
                <a:solidFill>
                  <a:srgbClr val="B98A3E"/>
                </a:solidFill>
                <a:latin typeface="Arial" pitchFamily="34" charset="0"/>
                <a:ea typeface="Arial" pitchFamily="34" charset="-122"/>
                <a:cs typeface="Arial" pitchFamily="34" charset="-120"/>
              </a:rPr>
              <a:t>06</a:t>
            </a:r>
            <a:endParaRPr lang="en-US" sz="2600" dirty="0"/>
          </a:p>
        </p:txBody>
      </p:sp>
      <p:sp>
        <p:nvSpPr>
          <p:cNvPr id="20" name="Text 18"/>
          <p:cNvSpPr/>
          <p:nvPr/>
        </p:nvSpPr>
        <p:spPr>
          <a:xfrm>
            <a:off x="3566160" y="448056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Keys and relationships</a:t>
            </a:r>
            <a:endParaRPr lang="en-US" sz="1300" dirty="0"/>
          </a:p>
        </p:txBody>
      </p:sp>
      <p:sp>
        <p:nvSpPr>
          <p:cNvPr id="21" name="Shape 19"/>
          <p:cNvSpPr/>
          <p:nvPr/>
        </p:nvSpPr>
        <p:spPr>
          <a:xfrm>
            <a:off x="6217920" y="3749040"/>
            <a:ext cx="2651760" cy="2103120"/>
          </a:xfrm>
          <a:prstGeom prst="roundRect">
            <a:avLst>
              <a:gd name="adj" fmla="val 6522"/>
            </a:avLst>
          </a:prstGeom>
          <a:solidFill>
            <a:srgbClr val="FFFDF8"/>
          </a:solidFill>
          <a:ln w="25400">
            <a:solidFill>
              <a:srgbClr val="2F6F73"/>
            </a:solidFill>
            <a:prstDash val="solid"/>
          </a:ln>
        </p:spPr>
      </p:sp>
      <p:sp>
        <p:nvSpPr>
          <p:cNvPr id="22" name="Text 20"/>
          <p:cNvSpPr/>
          <p:nvPr/>
        </p:nvSpPr>
        <p:spPr>
          <a:xfrm>
            <a:off x="6400800" y="3886200"/>
            <a:ext cx="1097280" cy="548640"/>
          </a:xfrm>
          <a:prstGeom prst="rect">
            <a:avLst/>
          </a:prstGeom>
          <a:noFill/>
          <a:ln/>
        </p:spPr>
        <p:txBody>
          <a:bodyPr wrap="square" rtlCol="0" anchor="ctr"/>
          <a:lstStyle/>
          <a:p>
            <a:pPr indent="0" marL="0">
              <a:buNone/>
            </a:pPr>
            <a:r>
              <a:rPr lang="en-US" sz="2600" b="1" dirty="0">
                <a:solidFill>
                  <a:srgbClr val="2F6F73"/>
                </a:solidFill>
                <a:latin typeface="Arial" pitchFamily="34" charset="0"/>
                <a:ea typeface="Arial" pitchFamily="34" charset="-122"/>
                <a:cs typeface="Arial" pitchFamily="34" charset="-120"/>
              </a:rPr>
              <a:t>07</a:t>
            </a:r>
            <a:endParaRPr lang="en-US" sz="2600" dirty="0"/>
          </a:p>
        </p:txBody>
      </p:sp>
      <p:sp>
        <p:nvSpPr>
          <p:cNvPr id="23" name="Text 21"/>
          <p:cNvSpPr/>
          <p:nvPr/>
        </p:nvSpPr>
        <p:spPr>
          <a:xfrm>
            <a:off x="6400800" y="448056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Integrity, transactions, and safety</a:t>
            </a:r>
            <a:endParaRPr lang="en-US" sz="1300" dirty="0"/>
          </a:p>
        </p:txBody>
      </p:sp>
      <p:sp>
        <p:nvSpPr>
          <p:cNvPr id="24" name="Shape 22"/>
          <p:cNvSpPr/>
          <p:nvPr/>
        </p:nvSpPr>
        <p:spPr>
          <a:xfrm>
            <a:off x="9052560" y="3749040"/>
            <a:ext cx="2651760" cy="2103120"/>
          </a:xfrm>
          <a:prstGeom prst="roundRect">
            <a:avLst>
              <a:gd name="adj" fmla="val 6522"/>
            </a:avLst>
          </a:prstGeom>
          <a:solidFill>
            <a:srgbClr val="FFFDF8"/>
          </a:solidFill>
          <a:ln w="25400">
            <a:solidFill>
              <a:srgbClr val="C0704F"/>
            </a:solidFill>
            <a:prstDash val="solid"/>
          </a:ln>
        </p:spPr>
      </p:sp>
      <p:sp>
        <p:nvSpPr>
          <p:cNvPr id="25" name="Text 23"/>
          <p:cNvSpPr/>
          <p:nvPr/>
        </p:nvSpPr>
        <p:spPr>
          <a:xfrm>
            <a:off x="9235440" y="3886200"/>
            <a:ext cx="1097280" cy="548640"/>
          </a:xfrm>
          <a:prstGeom prst="rect">
            <a:avLst/>
          </a:prstGeom>
          <a:noFill/>
          <a:ln/>
        </p:spPr>
        <p:txBody>
          <a:bodyPr wrap="square" rtlCol="0" anchor="ctr"/>
          <a:lstStyle/>
          <a:p>
            <a:pPr indent="0" marL="0">
              <a:buNone/>
            </a:pPr>
            <a:r>
              <a:rPr lang="en-US" sz="2600" b="1" dirty="0">
                <a:solidFill>
                  <a:srgbClr val="C0704F"/>
                </a:solidFill>
                <a:latin typeface="Arial" pitchFamily="34" charset="0"/>
                <a:ea typeface="Arial" pitchFamily="34" charset="-122"/>
                <a:cs typeface="Arial" pitchFamily="34" charset="-120"/>
              </a:rPr>
              <a:t>08</a:t>
            </a:r>
            <a:endParaRPr lang="en-US" sz="2600" dirty="0"/>
          </a:p>
        </p:txBody>
      </p:sp>
      <p:sp>
        <p:nvSpPr>
          <p:cNvPr id="26" name="Text 24"/>
          <p:cNvSpPr/>
          <p:nvPr/>
        </p:nvSpPr>
        <p:spPr>
          <a:xfrm>
            <a:off x="9235440" y="448056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Three levels, views, and indexes</a:t>
            </a:r>
            <a:endParaRPr lang="en-US" sz="1300" dirty="0"/>
          </a:p>
        </p:txBody>
      </p:sp>
      <p:sp>
        <p:nvSpPr>
          <p:cNvPr id="27" name="Shape 25"/>
          <p:cNvSpPr/>
          <p:nvPr/>
        </p:nvSpPr>
        <p:spPr>
          <a:xfrm>
            <a:off x="548640" y="6126480"/>
            <a:ext cx="2651760" cy="2103120"/>
          </a:xfrm>
          <a:prstGeom prst="roundRect">
            <a:avLst>
              <a:gd name="adj" fmla="val 6522"/>
            </a:avLst>
          </a:prstGeom>
          <a:solidFill>
            <a:srgbClr val="FFFDF8"/>
          </a:solidFill>
          <a:ln w="25400">
            <a:solidFill>
              <a:srgbClr val="2F6F73"/>
            </a:solidFill>
            <a:prstDash val="solid"/>
          </a:ln>
        </p:spPr>
      </p:sp>
      <p:sp>
        <p:nvSpPr>
          <p:cNvPr id="28" name="Text 26"/>
          <p:cNvSpPr/>
          <p:nvPr/>
        </p:nvSpPr>
        <p:spPr>
          <a:xfrm>
            <a:off x="731520" y="6263640"/>
            <a:ext cx="1097280" cy="548640"/>
          </a:xfrm>
          <a:prstGeom prst="rect">
            <a:avLst/>
          </a:prstGeom>
          <a:noFill/>
          <a:ln/>
        </p:spPr>
        <p:txBody>
          <a:bodyPr wrap="square" rtlCol="0" anchor="ctr"/>
          <a:lstStyle/>
          <a:p>
            <a:pPr indent="0" marL="0">
              <a:buNone/>
            </a:pPr>
            <a:r>
              <a:rPr lang="en-US" sz="2600" b="1" dirty="0">
                <a:solidFill>
                  <a:srgbClr val="2F6F73"/>
                </a:solidFill>
                <a:latin typeface="Arial" pitchFamily="34" charset="0"/>
                <a:ea typeface="Arial" pitchFamily="34" charset="-122"/>
                <a:cs typeface="Arial" pitchFamily="34" charset="-120"/>
              </a:rPr>
              <a:t>09</a:t>
            </a:r>
            <a:endParaRPr lang="en-US" sz="2600" dirty="0"/>
          </a:p>
        </p:txBody>
      </p:sp>
      <p:sp>
        <p:nvSpPr>
          <p:cNvPr id="29" name="Text 27"/>
          <p:cNvSpPr/>
          <p:nvPr/>
        </p:nvSpPr>
        <p:spPr>
          <a:xfrm>
            <a:off x="731520" y="685800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First SQL queries</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2F6F73"/>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2F6F73"/>
                </a:solidFill>
                <a:latin typeface="Arial" pitchFamily="34" charset="0"/>
                <a:ea typeface="Arial" pitchFamily="34" charset="-122"/>
                <a:cs typeface="Arial" pitchFamily="34" charset="-120"/>
              </a:rPr>
              <a:t>LESSON 1</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From files to databases</a:t>
            </a:r>
            <a:endParaRPr lang="en-US" sz="2600" dirty="0"/>
          </a:p>
        </p:txBody>
      </p:sp>
      <p:sp>
        <p:nvSpPr>
          <p:cNvPr id="5" name="Text 3"/>
          <p:cNvSpPr/>
          <p:nvPr/>
        </p:nvSpPr>
        <p:spPr>
          <a:xfrm>
            <a:off x="548640" y="1737360"/>
            <a:ext cx="5669280" cy="36576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566928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File-based systems duplicated data, so copies became inconsistent.</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Programs depended on file layouts: a layout change meant rewriting code.</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A DBMS stores data once, describes it, protects it, and shares it.</a:t>
            </a:r>
            <a:endParaRPr lang="en-US" sz="1500" dirty="0"/>
          </a:p>
        </p:txBody>
      </p:sp>
      <p:pic>
        <p:nvPicPr>
          <p:cNvPr id="7" name="Image 0" descr="/home/jdca/Documents/Commercial Software Engineering/learning-platform/node_modules/.cache/docs/y1-t1-m3-db-w1-en-files-vs-dbms.png">    </p:cNvPr>
          <p:cNvPicPr>
            <a:picLocks noChangeAspect="1"/>
          </p:cNvPicPr>
          <p:nvPr/>
        </p:nvPicPr>
        <p:blipFill>
          <a:blip r:embed="rId1"/>
          <a:stretch>
            <a:fillRect/>
          </a:stretch>
        </p:blipFill>
        <p:spPr>
          <a:xfrm>
            <a:off x="6400800" y="1737360"/>
            <a:ext cx="5394960" cy="2340864"/>
          </a:xfrm>
          <a:prstGeom prst="rect">
            <a:avLst/>
          </a:prstGeom>
        </p:spPr>
      </p:pic>
      <p:sp>
        <p:nvSpPr>
          <p:cNvPr id="8"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9" name="Shape 6"/>
          <p:cNvSpPr/>
          <p:nvPr/>
        </p:nvSpPr>
        <p:spPr>
          <a:xfrm>
            <a:off x="548640" y="4754880"/>
            <a:ext cx="91440" cy="1417320"/>
          </a:xfrm>
          <a:prstGeom prst="rect">
            <a:avLst/>
          </a:prstGeom>
          <a:solidFill>
            <a:srgbClr val="2F6F73"/>
          </a:solidFill>
          <a:ln/>
        </p:spPr>
      </p:sp>
      <p:sp>
        <p:nvSpPr>
          <p:cNvPr id="10"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2F6F73"/>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Picture every office in a company keeping its own paper address book. When a customer moves, someone has to update every book, and some will be missed. A database is one shared, well-organised address book that everyone consults.</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C0704F"/>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C0704F"/>
                </a:solidFill>
                <a:latin typeface="Arial" pitchFamily="34" charset="0"/>
                <a:ea typeface="Arial" pitchFamily="34" charset="-122"/>
                <a:cs typeface="Arial" pitchFamily="34" charset="-120"/>
              </a:rPr>
              <a:t>LESSON 2</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Data, information, and what a database is</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C0704F"/>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Data + context = information; people turn information into knowledge.</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A database models a mini-world, is coherent, and has a purpose.</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The catalogue stores metadata: the structure and rules of the data.</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C0704F"/>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C0704F"/>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A single puzzle piece is data. Seeing that it is part of the sky is information. Knowing where to start the puzzle next time is knowledge. The box with the picture on the lid is the metadata.</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3A4E74"/>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3A4E74"/>
                </a:solidFill>
                <a:latin typeface="Arial" pitchFamily="34" charset="0"/>
                <a:ea typeface="Arial" pitchFamily="34" charset="-122"/>
                <a:cs typeface="Arial" pitchFamily="34" charset="-120"/>
              </a:rPr>
              <a:t>LESSON 3</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What a DBMS does</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A DBMS defines, constructs, manipulates, and shares databases.</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Database system = DBMS + data + application programs.</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Key advantages: less redundancy, access control, fast queries, recovery, integrity.</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3A4E74"/>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3A4E74"/>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A DBMS is like a librarian. You do not walk into the storage room yourself: you ask, and the librarian finds the book quickly, checks you may borrow it, records the loan, and makes sure two people do not take the last copy.</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7A6A8C"/>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7A6A8C"/>
                </a:solidFill>
                <a:latin typeface="Arial" pitchFamily="34" charset="0"/>
                <a:ea typeface="Arial" pitchFamily="34" charset="-122"/>
                <a:cs typeface="Arial" pitchFamily="34" charset="-120"/>
              </a:rPr>
              <a:t>LESSON 4</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Who works with a database</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7A6A8C"/>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DBA: access, performance, security. Designer: structure, rules, views.</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Analysts specify; application programmers build and maintain.</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End users can be casual, parametric, sophisticated, or stand-alone.</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7A6A8C"/>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7A6A8C"/>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Think of a theatre: the designer draws the stage, the administrator runs the building and holds the keys, programmers build the props, and the audience, the end users, are why the show exists.</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5E8C7A"/>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5E8C7A"/>
                </a:solidFill>
                <a:latin typeface="Arial" pitchFamily="34" charset="0"/>
                <a:ea typeface="Arial" pitchFamily="34" charset="-122"/>
                <a:cs typeface="Arial" pitchFamily="34" charset="-120"/>
              </a:rPr>
              <a:t>LESSON 5</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The relational model: tables, rows, and columns</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5E8C7A"/>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Relation = table, attribute = column, tuple = row.</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Schema = structure; data (instance) = content at a moment.</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Other models exist: hierarchical, network, object-oriented, NoSQL.</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5E8C7A"/>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5E8C7A"/>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A table is like a well-designed form printed many times: the questions on the form are the columns (the schema), and each filled-in copy is a row (the data).</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B98A3E"/>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B98A3E"/>
                </a:solidFill>
                <a:latin typeface="Arial" pitchFamily="34" charset="0"/>
                <a:ea typeface="Arial" pitchFamily="34" charset="-122"/>
                <a:cs typeface="Arial" pitchFamily="34" charset="-120"/>
              </a:rPr>
              <a:t>LESSON 6</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Keys and relationships</a:t>
            </a:r>
            <a:endParaRPr lang="en-US" sz="2600" dirty="0"/>
          </a:p>
        </p:txBody>
      </p:sp>
      <p:sp>
        <p:nvSpPr>
          <p:cNvPr id="5" name="Text 3"/>
          <p:cNvSpPr/>
          <p:nvPr/>
        </p:nvSpPr>
        <p:spPr>
          <a:xfrm>
            <a:off x="548640" y="1737360"/>
            <a:ext cx="5669280" cy="365760"/>
          </a:xfrm>
          <a:prstGeom prst="rect">
            <a:avLst/>
          </a:prstGeom>
          <a:noFill/>
          <a:ln/>
        </p:spPr>
        <p:txBody>
          <a:bodyPr wrap="square" rtlCol="0" anchor="ctr"/>
          <a:lstStyle/>
          <a:p>
            <a:pPr indent="0" marL="0">
              <a:buNone/>
            </a:pPr>
            <a:r>
              <a:rPr lang="en-US" sz="1400" b="1" dirty="0">
                <a:solidFill>
                  <a:srgbClr val="B98A3E"/>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566928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PK: unique and not null; it identifies each row.</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FK: stores another table's PK; it creates the relationship.</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N:M relationships need a junction table with two FKs.</a:t>
            </a:r>
            <a:endParaRPr lang="en-US" sz="1500" dirty="0"/>
          </a:p>
        </p:txBody>
      </p:sp>
      <p:pic>
        <p:nvPicPr>
          <p:cNvPr id="7" name="Image 0" descr="/home/jdca/Documents/Commercial Software Engineering/learning-platform/node_modules/.cache/docs/y1-t1-m3-db-w1-en-er-store.png">    </p:cNvPr>
          <p:cNvPicPr>
            <a:picLocks noChangeAspect="1"/>
          </p:cNvPicPr>
          <p:nvPr/>
        </p:nvPicPr>
        <p:blipFill>
          <a:blip r:embed="rId1"/>
          <a:stretch>
            <a:fillRect/>
          </a:stretch>
        </p:blipFill>
        <p:spPr>
          <a:xfrm>
            <a:off x="6400800" y="1737360"/>
            <a:ext cx="5394960" cy="2340864"/>
          </a:xfrm>
          <a:prstGeom prst="rect">
            <a:avLst/>
          </a:prstGeom>
        </p:spPr>
      </p:pic>
      <p:sp>
        <p:nvSpPr>
          <p:cNvPr id="8"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9" name="Shape 6"/>
          <p:cNvSpPr/>
          <p:nvPr/>
        </p:nvSpPr>
        <p:spPr>
          <a:xfrm>
            <a:off x="548640" y="4754880"/>
            <a:ext cx="91440" cy="1417320"/>
          </a:xfrm>
          <a:prstGeom prst="rect">
            <a:avLst/>
          </a:prstGeom>
          <a:solidFill>
            <a:srgbClr val="B98A3E"/>
          </a:solidFill>
          <a:ln/>
        </p:spPr>
      </p:sp>
      <p:sp>
        <p:nvSpPr>
          <p:cNvPr id="10"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B98A3E"/>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A primary key is like a national ID number: one per person, never shared. A foreign key is that same number written on a form somewhere else, so you can always find the person it refers to.</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2F6F73"/>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2F6F73"/>
                </a:solidFill>
                <a:latin typeface="Arial" pitchFamily="34" charset="0"/>
                <a:ea typeface="Arial" pitchFamily="34" charset="-122"/>
                <a:cs typeface="Arial" pitchFamily="34" charset="-120"/>
              </a:rPr>
              <a:t>LESSON 7</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Integrity, transactions, and safety</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Constraints: PRIMARY KEY, FOREIGN KEY, NOT NULL, CHECK.</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Transaction = all or nothing: COMMIT or ROLLBACK.</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Concurrency control, logs, backups, and least privilege keep data safe.</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2F6F73"/>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2F6F73"/>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A transaction is like a bank transfer: money leaves one account and arrives in the other, or nothing happens. You never want the money to leave and not arrive.</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C0704F"/>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C0704F"/>
                </a:solidFill>
                <a:latin typeface="Arial" pitchFamily="34" charset="0"/>
                <a:ea typeface="Arial" pitchFamily="34" charset="-122"/>
                <a:cs typeface="Arial" pitchFamily="34" charset="-120"/>
              </a:rPr>
              <a:t>LESSON 8</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Three levels, views, and indexes</a:t>
            </a:r>
            <a:endParaRPr lang="en-US" sz="2600" dirty="0"/>
          </a:p>
        </p:txBody>
      </p:sp>
      <p:sp>
        <p:nvSpPr>
          <p:cNvPr id="5" name="Text 3"/>
          <p:cNvSpPr/>
          <p:nvPr/>
        </p:nvSpPr>
        <p:spPr>
          <a:xfrm>
            <a:off x="548640" y="1737360"/>
            <a:ext cx="5669280" cy="365760"/>
          </a:xfrm>
          <a:prstGeom prst="rect">
            <a:avLst/>
          </a:prstGeom>
          <a:noFill/>
          <a:ln/>
        </p:spPr>
        <p:txBody>
          <a:bodyPr wrap="square" rtlCol="0" anchor="ctr"/>
          <a:lstStyle/>
          <a:p>
            <a:pPr indent="0" marL="0">
              <a:buNone/>
            </a:pPr>
            <a:r>
              <a:rPr lang="en-US" sz="1400" b="1" dirty="0">
                <a:solidFill>
                  <a:srgbClr val="C0704F"/>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566928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External = user views; conceptual = logical model; internal = physical storage.</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Data independence lets one level change without breaking the others.</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Indexes speed up searches but cost space and update time.</a:t>
            </a:r>
            <a:endParaRPr lang="en-US" sz="1500" dirty="0"/>
          </a:p>
        </p:txBody>
      </p:sp>
      <p:pic>
        <p:nvPicPr>
          <p:cNvPr id="7" name="Image 0" descr="/home/jdca/Documents/Commercial Software Engineering/learning-platform/node_modules/.cache/docs/y1-t1-m3-db-w1-en-three-schema.png">    </p:cNvPr>
          <p:cNvPicPr>
            <a:picLocks noChangeAspect="1"/>
          </p:cNvPicPr>
          <p:nvPr/>
        </p:nvPicPr>
        <p:blipFill>
          <a:blip r:embed="rId1"/>
          <a:stretch>
            <a:fillRect/>
          </a:stretch>
        </p:blipFill>
        <p:spPr>
          <a:xfrm>
            <a:off x="6400800" y="1737360"/>
            <a:ext cx="5394960" cy="2340864"/>
          </a:xfrm>
          <a:prstGeom prst="rect">
            <a:avLst/>
          </a:prstGeom>
        </p:spPr>
      </p:pic>
      <p:sp>
        <p:nvSpPr>
          <p:cNvPr id="8"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9" name="Shape 6"/>
          <p:cNvSpPr/>
          <p:nvPr/>
        </p:nvSpPr>
        <p:spPr>
          <a:xfrm>
            <a:off x="548640" y="4754880"/>
            <a:ext cx="91440" cy="1417320"/>
          </a:xfrm>
          <a:prstGeom prst="rect">
            <a:avLst/>
          </a:prstGeom>
          <a:solidFill>
            <a:srgbClr val="C0704F"/>
          </a:solidFill>
          <a:ln/>
        </p:spPr>
      </p:sp>
      <p:sp>
        <p:nvSpPr>
          <p:cNvPr id="10"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C0704F"/>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A restaurant: diners see the menu (external), the chef works from recipes (conceptual), and the pantry is organised in shelves and fridges (internal). Reorganising the pantry should not change the menu.</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2F6F73"/>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2F6F73"/>
                </a:solidFill>
                <a:latin typeface="Arial" pitchFamily="34" charset="0"/>
                <a:ea typeface="Arial" pitchFamily="34" charset="-122"/>
                <a:cs typeface="Arial" pitchFamily="34" charset="-120"/>
              </a:rPr>
              <a:t>LESSON 9</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First SQL queries</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SELECT columns FROM table WHERE condition.</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ORDER BY sorts; JOIN … ON combines tables through keys.</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UPDATE and DELETE always need a WHERE clause.</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2F6F73"/>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2F6F73"/>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SELECT is like asking a librarian: "show me the titles and authors (SELECT) from the history shelf (FROM) published after 2000 (WHERE)".</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1F2A36"/>
                </a:solidFill>
                <a:latin typeface="Arial" pitchFamily="34" charset="0"/>
                <a:ea typeface="Arial" pitchFamily="34" charset="-122"/>
                <a:cs typeface="Arial" pitchFamily="34" charset="-120"/>
              </a:rPr>
              <a:t>Step by step</a:t>
            </a:r>
            <a:endParaRPr lang="en-US" sz="2800" dirty="0"/>
          </a:p>
        </p:txBody>
      </p:sp>
      <p:sp>
        <p:nvSpPr>
          <p:cNvPr id="3" name="Shape 1"/>
          <p:cNvSpPr/>
          <p:nvPr/>
        </p:nvSpPr>
        <p:spPr>
          <a:xfrm>
            <a:off x="960120" y="1828800"/>
            <a:ext cx="731520" cy="731520"/>
          </a:xfrm>
          <a:prstGeom prst="ellipse">
            <a:avLst/>
          </a:prstGeom>
          <a:solidFill>
            <a:srgbClr val="2F6F73"/>
          </a:solidFill>
          <a:ln w="12700">
            <a:solidFill>
              <a:srgbClr val="2F6F73"/>
            </a:solidFill>
            <a:prstDash val="solid"/>
          </a:ln>
        </p:spPr>
      </p:sp>
      <p:sp>
        <p:nvSpPr>
          <p:cNvPr id="4" name="Text 2"/>
          <p:cNvSpPr/>
          <p:nvPr/>
        </p:nvSpPr>
        <p:spPr>
          <a:xfrm>
            <a:off x="96012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1</a:t>
            </a:r>
            <a:endParaRPr lang="en-US" sz="1800" dirty="0"/>
          </a:p>
        </p:txBody>
      </p:sp>
      <p:sp>
        <p:nvSpPr>
          <p:cNvPr id="5" name="Text 3"/>
          <p:cNvSpPr/>
          <p:nvPr/>
        </p:nvSpPr>
        <p:spPr>
          <a:xfrm>
            <a:off x="45720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SELECT</a:t>
            </a:r>
            <a:endParaRPr lang="en-US" sz="1300" dirty="0"/>
          </a:p>
        </p:txBody>
      </p:sp>
      <p:sp>
        <p:nvSpPr>
          <p:cNvPr id="6" name="Shape 4"/>
          <p:cNvSpPr/>
          <p:nvPr/>
        </p:nvSpPr>
        <p:spPr>
          <a:xfrm>
            <a:off x="1828800" y="2057400"/>
            <a:ext cx="457200" cy="274320"/>
          </a:xfrm>
          <a:prstGeom prst="rightArrow">
            <a:avLst/>
          </a:prstGeom>
          <a:solidFill>
            <a:srgbClr val="DDD3C0"/>
          </a:solidFill>
          <a:ln w="12700">
            <a:solidFill>
              <a:srgbClr val="DDD3C0"/>
            </a:solidFill>
            <a:prstDash val="solid"/>
          </a:ln>
        </p:spPr>
      </p:sp>
      <p:sp>
        <p:nvSpPr>
          <p:cNvPr id="7" name="Shape 5"/>
          <p:cNvSpPr/>
          <p:nvPr/>
        </p:nvSpPr>
        <p:spPr>
          <a:xfrm>
            <a:off x="2880360" y="1828800"/>
            <a:ext cx="731520" cy="731520"/>
          </a:xfrm>
          <a:prstGeom prst="ellipse">
            <a:avLst/>
          </a:prstGeom>
          <a:solidFill>
            <a:srgbClr val="C0704F"/>
          </a:solidFill>
          <a:ln w="12700">
            <a:solidFill>
              <a:srgbClr val="C0704F"/>
            </a:solidFill>
            <a:prstDash val="solid"/>
          </a:ln>
        </p:spPr>
      </p:sp>
      <p:sp>
        <p:nvSpPr>
          <p:cNvPr id="8" name="Text 6"/>
          <p:cNvSpPr/>
          <p:nvPr/>
        </p:nvSpPr>
        <p:spPr>
          <a:xfrm>
            <a:off x="288036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2</a:t>
            </a:r>
            <a:endParaRPr lang="en-US" sz="1800" dirty="0"/>
          </a:p>
        </p:txBody>
      </p:sp>
      <p:sp>
        <p:nvSpPr>
          <p:cNvPr id="9" name="Text 7"/>
          <p:cNvSpPr/>
          <p:nvPr/>
        </p:nvSpPr>
        <p:spPr>
          <a:xfrm>
            <a:off x="237744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FROM</a:t>
            </a:r>
            <a:endParaRPr lang="en-US" sz="1300" dirty="0"/>
          </a:p>
        </p:txBody>
      </p:sp>
      <p:sp>
        <p:nvSpPr>
          <p:cNvPr id="10" name="Shape 8"/>
          <p:cNvSpPr/>
          <p:nvPr/>
        </p:nvSpPr>
        <p:spPr>
          <a:xfrm>
            <a:off x="3749040" y="2057400"/>
            <a:ext cx="457200" cy="274320"/>
          </a:xfrm>
          <a:prstGeom prst="rightArrow">
            <a:avLst/>
          </a:prstGeom>
          <a:solidFill>
            <a:srgbClr val="DDD3C0"/>
          </a:solidFill>
          <a:ln w="12700">
            <a:solidFill>
              <a:srgbClr val="DDD3C0"/>
            </a:solidFill>
            <a:prstDash val="solid"/>
          </a:ln>
        </p:spPr>
      </p:sp>
      <p:sp>
        <p:nvSpPr>
          <p:cNvPr id="11" name="Shape 9"/>
          <p:cNvSpPr/>
          <p:nvPr/>
        </p:nvSpPr>
        <p:spPr>
          <a:xfrm>
            <a:off x="4800600" y="1828800"/>
            <a:ext cx="731520" cy="731520"/>
          </a:xfrm>
          <a:prstGeom prst="ellipse">
            <a:avLst/>
          </a:prstGeom>
          <a:solidFill>
            <a:srgbClr val="3A4E74"/>
          </a:solidFill>
          <a:ln w="12700">
            <a:solidFill>
              <a:srgbClr val="3A4E74"/>
            </a:solidFill>
            <a:prstDash val="solid"/>
          </a:ln>
        </p:spPr>
      </p:sp>
      <p:sp>
        <p:nvSpPr>
          <p:cNvPr id="12" name="Text 10"/>
          <p:cNvSpPr/>
          <p:nvPr/>
        </p:nvSpPr>
        <p:spPr>
          <a:xfrm>
            <a:off x="480060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3</a:t>
            </a:r>
            <a:endParaRPr lang="en-US" sz="1800" dirty="0"/>
          </a:p>
        </p:txBody>
      </p:sp>
      <p:sp>
        <p:nvSpPr>
          <p:cNvPr id="13" name="Text 11"/>
          <p:cNvSpPr/>
          <p:nvPr/>
        </p:nvSpPr>
        <p:spPr>
          <a:xfrm>
            <a:off x="429768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JOIN … ON</a:t>
            </a:r>
            <a:endParaRPr lang="en-US" sz="1300" dirty="0"/>
          </a:p>
        </p:txBody>
      </p:sp>
      <p:sp>
        <p:nvSpPr>
          <p:cNvPr id="14" name="Shape 12"/>
          <p:cNvSpPr/>
          <p:nvPr/>
        </p:nvSpPr>
        <p:spPr>
          <a:xfrm>
            <a:off x="5669280" y="2057400"/>
            <a:ext cx="457200" cy="274320"/>
          </a:xfrm>
          <a:prstGeom prst="rightArrow">
            <a:avLst/>
          </a:prstGeom>
          <a:solidFill>
            <a:srgbClr val="DDD3C0"/>
          </a:solidFill>
          <a:ln w="12700">
            <a:solidFill>
              <a:srgbClr val="DDD3C0"/>
            </a:solidFill>
            <a:prstDash val="solid"/>
          </a:ln>
        </p:spPr>
      </p:sp>
      <p:sp>
        <p:nvSpPr>
          <p:cNvPr id="15" name="Shape 13"/>
          <p:cNvSpPr/>
          <p:nvPr/>
        </p:nvSpPr>
        <p:spPr>
          <a:xfrm>
            <a:off x="6720840" y="1828800"/>
            <a:ext cx="731520" cy="731520"/>
          </a:xfrm>
          <a:prstGeom prst="ellipse">
            <a:avLst/>
          </a:prstGeom>
          <a:solidFill>
            <a:srgbClr val="7A6A8C"/>
          </a:solidFill>
          <a:ln w="12700">
            <a:solidFill>
              <a:srgbClr val="7A6A8C"/>
            </a:solidFill>
            <a:prstDash val="solid"/>
          </a:ln>
        </p:spPr>
      </p:sp>
      <p:sp>
        <p:nvSpPr>
          <p:cNvPr id="16" name="Text 14"/>
          <p:cNvSpPr/>
          <p:nvPr/>
        </p:nvSpPr>
        <p:spPr>
          <a:xfrm>
            <a:off x="672084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4</a:t>
            </a:r>
            <a:endParaRPr lang="en-US" sz="1800" dirty="0"/>
          </a:p>
        </p:txBody>
      </p:sp>
      <p:sp>
        <p:nvSpPr>
          <p:cNvPr id="17" name="Text 15"/>
          <p:cNvSpPr/>
          <p:nvPr/>
        </p:nvSpPr>
        <p:spPr>
          <a:xfrm>
            <a:off x="621792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WHERE</a:t>
            </a:r>
            <a:endParaRPr lang="en-US" sz="1300" dirty="0"/>
          </a:p>
        </p:txBody>
      </p:sp>
      <p:sp>
        <p:nvSpPr>
          <p:cNvPr id="18" name="Shape 16"/>
          <p:cNvSpPr/>
          <p:nvPr/>
        </p:nvSpPr>
        <p:spPr>
          <a:xfrm>
            <a:off x="7589520" y="2057400"/>
            <a:ext cx="457200" cy="274320"/>
          </a:xfrm>
          <a:prstGeom prst="rightArrow">
            <a:avLst/>
          </a:prstGeom>
          <a:solidFill>
            <a:srgbClr val="DDD3C0"/>
          </a:solidFill>
          <a:ln w="12700">
            <a:solidFill>
              <a:srgbClr val="DDD3C0"/>
            </a:solidFill>
            <a:prstDash val="solid"/>
          </a:ln>
        </p:spPr>
      </p:sp>
      <p:sp>
        <p:nvSpPr>
          <p:cNvPr id="19" name="Shape 17"/>
          <p:cNvSpPr/>
          <p:nvPr/>
        </p:nvSpPr>
        <p:spPr>
          <a:xfrm>
            <a:off x="8641080" y="1828800"/>
            <a:ext cx="731520" cy="731520"/>
          </a:xfrm>
          <a:prstGeom prst="ellipse">
            <a:avLst/>
          </a:prstGeom>
          <a:solidFill>
            <a:srgbClr val="5E8C7A"/>
          </a:solidFill>
          <a:ln w="12700">
            <a:solidFill>
              <a:srgbClr val="5E8C7A"/>
            </a:solidFill>
            <a:prstDash val="solid"/>
          </a:ln>
        </p:spPr>
      </p:sp>
      <p:sp>
        <p:nvSpPr>
          <p:cNvPr id="20" name="Text 18"/>
          <p:cNvSpPr/>
          <p:nvPr/>
        </p:nvSpPr>
        <p:spPr>
          <a:xfrm>
            <a:off x="864108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5</a:t>
            </a:r>
            <a:endParaRPr lang="en-US" sz="1800" dirty="0"/>
          </a:p>
        </p:txBody>
      </p:sp>
      <p:sp>
        <p:nvSpPr>
          <p:cNvPr id="21" name="Text 19"/>
          <p:cNvSpPr/>
          <p:nvPr/>
        </p:nvSpPr>
        <p:spPr>
          <a:xfrm>
            <a:off x="813816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ORDER BY</a:t>
            </a:r>
            <a:endParaRPr lang="en-US" sz="1300" dirty="0"/>
          </a:p>
        </p:txBody>
      </p:sp>
      <p:sp>
        <p:nvSpPr>
          <p:cNvPr id="22" name="Text 20"/>
          <p:cNvSpPr/>
          <p:nvPr/>
        </p:nvSpPr>
        <p:spPr>
          <a:xfrm>
            <a:off x="548640" y="4572000"/>
            <a:ext cx="10972800" cy="914400"/>
          </a:xfrm>
          <a:prstGeom prst="rect">
            <a:avLst/>
          </a:prstGeom>
          <a:noFill/>
          <a:ln/>
        </p:spPr>
        <p:txBody>
          <a:bodyPr wrap="square" rtlCol="0" anchor="ctr"/>
          <a:lstStyle/>
          <a:p>
            <a:pPr indent="0" marL="0">
              <a:buNone/>
            </a:pPr>
            <a:r>
              <a:rPr lang="en-US" sz="1500" i="1" dirty="0">
                <a:solidFill>
                  <a:srgbClr val="4E5A66"/>
                </a:solidFill>
                <a:latin typeface="Arial" pitchFamily="34" charset="0"/>
                <a:ea typeface="Arial" pitchFamily="34" charset="-122"/>
                <a:cs typeface="Arial" pitchFamily="34" charset="-120"/>
              </a:rPr>
              <a:t>SQL is written SELECT, FROM, JOIN, WHERE, ORDER BY.</a:t>
            </a:r>
            <a:endParaRPr lang="en-US" sz="15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1F2A36"/>
                </a:solidFill>
                <a:latin typeface="Arial" pitchFamily="34" charset="0"/>
                <a:ea typeface="Arial" pitchFamily="34" charset="-122"/>
                <a:cs typeface="Arial" pitchFamily="34" charset="-120"/>
              </a:rPr>
              <a:t>Checkpoint</a:t>
            </a:r>
            <a:endParaRPr lang="en-US" sz="2800" dirty="0"/>
          </a:p>
        </p:txBody>
      </p:sp>
      <p:sp>
        <p:nvSpPr>
          <p:cNvPr id="3" name="Text 1"/>
          <p:cNvSpPr/>
          <p:nvPr/>
        </p:nvSpPr>
        <p:spPr>
          <a:xfrm>
            <a:off x="548640" y="1280160"/>
            <a:ext cx="10972800" cy="548640"/>
          </a:xfrm>
          <a:prstGeom prst="rect">
            <a:avLst/>
          </a:prstGeom>
          <a:noFill/>
          <a:ln/>
        </p:spPr>
        <p:txBody>
          <a:bodyPr wrap="square" rtlCol="0" anchor="ctr"/>
          <a:lstStyle/>
          <a:p>
            <a:pPr indent="0" marL="0">
              <a:buNone/>
            </a:pPr>
            <a:r>
              <a:rPr lang="en-US" sz="1500" b="1" dirty="0">
                <a:solidFill>
                  <a:srgbClr val="1F2A36"/>
                </a:solidFill>
                <a:latin typeface="Arial" pitchFamily="34" charset="0"/>
                <a:ea typeface="Arial" pitchFamily="34" charset="-122"/>
                <a:cs typeface="Arial" pitchFamily="34" charset="-120"/>
              </a:rPr>
              <a:t>1. What is the main risk of storing the same customer in several files?</a:t>
            </a:r>
            <a:endParaRPr lang="en-US" sz="1500" dirty="0"/>
          </a:p>
        </p:txBody>
      </p:sp>
      <p:sp>
        <p:nvSpPr>
          <p:cNvPr id="4" name="Text 2"/>
          <p:cNvSpPr/>
          <p:nvPr/>
        </p:nvSpPr>
        <p:spPr>
          <a:xfrm>
            <a:off x="822960" y="1828800"/>
            <a:ext cx="10789920" cy="822960"/>
          </a:xfrm>
          <a:prstGeom prst="rect">
            <a:avLst/>
          </a:prstGeom>
          <a:noFill/>
          <a:ln/>
        </p:spPr>
        <p:txBody>
          <a:bodyPr wrap="square" rtlCol="0" anchor="t"/>
          <a:lstStyle/>
          <a:p>
            <a:pPr indent="0" marL="0">
              <a:buNone/>
            </a:pPr>
            <a:r>
              <a:rPr lang="en-US" sz="1250" dirty="0">
                <a:solidFill>
                  <a:srgbClr val="4E5A66"/>
                </a:solidFill>
                <a:latin typeface="Arial" pitchFamily="34" charset="0"/>
                <a:ea typeface="Arial" pitchFamily="34" charset="-122"/>
                <a:cs typeface="Arial" pitchFamily="34" charset="-120"/>
              </a:rPr>
              <a:t>A. The copies become inconsistent     B. The files load faster     C. Programs need less code</a:t>
            </a:r>
            <a:endParaRPr lang="en-US" sz="1250" dirty="0"/>
          </a:p>
        </p:txBody>
      </p:sp>
      <p:sp>
        <p:nvSpPr>
          <p:cNvPr id="5" name="Text 3"/>
          <p:cNvSpPr/>
          <p:nvPr/>
        </p:nvSpPr>
        <p:spPr>
          <a:xfrm>
            <a:off x="548640" y="2926080"/>
            <a:ext cx="10972800" cy="548640"/>
          </a:xfrm>
          <a:prstGeom prst="rect">
            <a:avLst/>
          </a:prstGeom>
          <a:noFill/>
          <a:ln/>
        </p:spPr>
        <p:txBody>
          <a:bodyPr wrap="square" rtlCol="0" anchor="ctr"/>
          <a:lstStyle/>
          <a:p>
            <a:pPr indent="0" marL="0">
              <a:buNone/>
            </a:pPr>
            <a:r>
              <a:rPr lang="en-US" sz="1500" b="1" dirty="0">
                <a:solidFill>
                  <a:srgbClr val="1F2A36"/>
                </a:solidFill>
                <a:latin typeface="Arial" pitchFamily="34" charset="0"/>
                <a:ea typeface="Arial" pitchFamily="34" charset="-122"/>
                <a:cs typeface="Arial" pitchFamily="34" charset="-120"/>
              </a:rPr>
              <a:t>2. Which statement is information, not just data?</a:t>
            </a:r>
            <a:endParaRPr lang="en-US" sz="1500" dirty="0"/>
          </a:p>
        </p:txBody>
      </p:sp>
      <p:sp>
        <p:nvSpPr>
          <p:cNvPr id="6" name="Text 4"/>
          <p:cNvSpPr/>
          <p:nvPr/>
        </p:nvSpPr>
        <p:spPr>
          <a:xfrm>
            <a:off x="822960" y="3474720"/>
            <a:ext cx="10789920" cy="822960"/>
          </a:xfrm>
          <a:prstGeom prst="rect">
            <a:avLst/>
          </a:prstGeom>
          <a:noFill/>
          <a:ln/>
        </p:spPr>
        <p:txBody>
          <a:bodyPr wrap="square" rtlCol="0" anchor="t"/>
          <a:lstStyle/>
          <a:p>
            <a:pPr indent="0" marL="0">
              <a:buNone/>
            </a:pPr>
            <a:r>
              <a:rPr lang="en-US" sz="1250" dirty="0">
                <a:solidFill>
                  <a:srgbClr val="4E5A66"/>
                </a:solidFill>
                <a:latin typeface="Arial" pitchFamily="34" charset="0"/>
                <a:ea typeface="Arial" pitchFamily="34" charset="-122"/>
                <a:cs typeface="Arial" pitchFamily="34" charset="-120"/>
              </a:rPr>
              <a:t>A. "Customer 2 lives in Lima"     B. "Lima"     C. "2"</a:t>
            </a:r>
            <a:endParaRPr lang="en-US" sz="1250" dirty="0"/>
          </a:p>
        </p:txBody>
      </p:sp>
      <p:sp>
        <p:nvSpPr>
          <p:cNvPr id="7" name="Text 5"/>
          <p:cNvSpPr/>
          <p:nvPr/>
        </p:nvSpPr>
        <p:spPr>
          <a:xfrm>
            <a:off x="548640" y="4572000"/>
            <a:ext cx="10972800" cy="548640"/>
          </a:xfrm>
          <a:prstGeom prst="rect">
            <a:avLst/>
          </a:prstGeom>
          <a:noFill/>
          <a:ln/>
        </p:spPr>
        <p:txBody>
          <a:bodyPr wrap="square" rtlCol="0" anchor="ctr"/>
          <a:lstStyle/>
          <a:p>
            <a:pPr indent="0" marL="0">
              <a:buNone/>
            </a:pPr>
            <a:r>
              <a:rPr lang="en-US" sz="1500" b="1" dirty="0">
                <a:solidFill>
                  <a:srgbClr val="1F2A36"/>
                </a:solidFill>
                <a:latin typeface="Arial" pitchFamily="34" charset="0"/>
                <a:ea typeface="Arial" pitchFamily="34" charset="-122"/>
                <a:cs typeface="Arial" pitchFamily="34" charset="-120"/>
              </a:rPr>
              <a:t>3. A data analyst writes her own SQL queries and small tools to study sales. What kind of end user is she?</a:t>
            </a:r>
            <a:endParaRPr lang="en-US" sz="1500" dirty="0"/>
          </a:p>
        </p:txBody>
      </p:sp>
      <p:sp>
        <p:nvSpPr>
          <p:cNvPr id="8" name="Text 6"/>
          <p:cNvSpPr/>
          <p:nvPr/>
        </p:nvSpPr>
        <p:spPr>
          <a:xfrm>
            <a:off x="822960" y="5120640"/>
            <a:ext cx="10789920" cy="822960"/>
          </a:xfrm>
          <a:prstGeom prst="rect">
            <a:avLst/>
          </a:prstGeom>
          <a:noFill/>
          <a:ln/>
        </p:spPr>
        <p:txBody>
          <a:bodyPr wrap="square" rtlCol="0" anchor="t"/>
          <a:lstStyle/>
          <a:p>
            <a:pPr indent="0" marL="0">
              <a:buNone/>
            </a:pPr>
            <a:r>
              <a:rPr lang="en-US" sz="1250" dirty="0">
                <a:solidFill>
                  <a:srgbClr val="4E5A66"/>
                </a:solidFill>
                <a:latin typeface="Arial" pitchFamily="34" charset="0"/>
                <a:ea typeface="Arial" pitchFamily="34" charset="-122"/>
                <a:cs typeface="Arial" pitchFamily="34" charset="-120"/>
              </a:rPr>
              <a:t>A. Sophisticated     B. Parametric     C. Casual</a:t>
            </a:r>
            <a:endParaRPr lang="en-US" sz="12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1F2A36"/>
                </a:solidFill>
                <a:latin typeface="Arial" pitchFamily="34" charset="0"/>
                <a:ea typeface="Arial" pitchFamily="34" charset="-122"/>
                <a:cs typeface="Arial" pitchFamily="34" charset="-120"/>
              </a:rPr>
              <a:t>Practise it</a:t>
            </a:r>
            <a:endParaRPr lang="en-US" sz="2800" dirty="0"/>
          </a:p>
        </p:txBody>
      </p:sp>
      <p:sp>
        <p:nvSpPr>
          <p:cNvPr id="3" name="Text 1"/>
          <p:cNvSpPr/>
          <p:nvPr/>
        </p:nvSpPr>
        <p:spPr>
          <a:xfrm>
            <a:off x="548640" y="1280160"/>
            <a:ext cx="5486400" cy="365760"/>
          </a:xfrm>
          <a:prstGeom prst="rect">
            <a:avLst/>
          </a:prstGeom>
          <a:noFill/>
          <a:ln/>
        </p:spPr>
        <p:txBody>
          <a:bodyPr wrap="square" rtlCol="0" anchor="ctr"/>
          <a:lstStyle/>
          <a:p>
            <a:pPr indent="0" marL="0">
              <a:buNone/>
            </a:pPr>
            <a:r>
              <a:rPr lang="en-US" sz="1500" b="1" dirty="0">
                <a:solidFill>
                  <a:srgbClr val="2F6F73"/>
                </a:solidFill>
                <a:latin typeface="Arial" pitchFamily="34" charset="0"/>
                <a:ea typeface="Arial" pitchFamily="34" charset="-122"/>
                <a:cs typeface="Arial" pitchFamily="34" charset="-120"/>
              </a:rPr>
              <a:t>Labs</a:t>
            </a:r>
            <a:endParaRPr lang="en-US" sz="1500" dirty="0"/>
          </a:p>
        </p:txBody>
      </p:sp>
      <p:sp>
        <p:nvSpPr>
          <p:cNvPr id="4" name="Text 2"/>
          <p:cNvSpPr/>
          <p:nvPr/>
        </p:nvSpPr>
        <p:spPr>
          <a:xfrm>
            <a:off x="548640" y="1645920"/>
            <a:ext cx="5486400" cy="3200400"/>
          </a:xfrm>
          <a:prstGeom prst="rect">
            <a:avLst/>
          </a:prstGeom>
          <a:noFill/>
          <a:ln/>
        </p:spPr>
        <p:txBody>
          <a:bodyPr wrap="square" rtlCol="0" anchor="t"/>
          <a:lstStyle/>
          <a:p>
            <a:pPr marL="342900" indent="-342900">
              <a:buSzPct val="100000"/>
              <a:buChar char="•"/>
            </a:pPr>
            <a:r>
              <a:rPr lang="en-US" sz="1400" dirty="0">
                <a:solidFill>
                  <a:srgbClr val="1F2A36"/>
                </a:solidFill>
                <a:latin typeface="Arial" pitchFamily="34" charset="0"/>
                <a:ea typeface="Arial" pitchFamily="34" charset="-122"/>
                <a:cs typeface="Arial" pitchFamily="34" charset="-120"/>
              </a:rPr>
              <a:t>First queries in the SQL Lab (Level 1)</a:t>
            </a:r>
            <a:endParaRPr lang="en-US" sz="1400" dirty="0"/>
          </a:p>
          <a:p>
            <a:pPr marL="342900" indent="-342900">
              <a:buSzPct val="100000"/>
              <a:buChar char="•"/>
            </a:pPr>
            <a:r>
              <a:rPr lang="en-US" sz="1400" dirty="0">
                <a:solidFill>
                  <a:srgbClr val="1F2A36"/>
                </a:solidFill>
                <a:latin typeface="Arial" pitchFamily="34" charset="0"/>
                <a:ea typeface="Arial" pitchFamily="34" charset="-122"/>
                <a:cs typeface="Arial" pitchFamily="34" charset="-120"/>
              </a:rPr>
              <a:t>Join customers and orders (Level 2)</a:t>
            </a:r>
            <a:endParaRPr lang="en-US" sz="1400" dirty="0"/>
          </a:p>
          <a:p>
            <a:pPr marL="342900" indent="-342900">
              <a:buSzPct val="100000"/>
              <a:buChar char="•"/>
            </a:pPr>
            <a:r>
              <a:rPr lang="en-US" sz="1400" dirty="0">
                <a:solidFill>
                  <a:srgbClr val="1F2A36"/>
                </a:solidFill>
                <a:latin typeface="Arial" pitchFamily="34" charset="0"/>
                <a:ea typeface="Arial" pitchFamily="34" charset="-122"/>
                <a:cs typeface="Arial" pitchFamily="34" charset="-120"/>
              </a:rPr>
              <a:t>See integrity and transactions at work (Level 2)</a:t>
            </a:r>
            <a:endParaRPr lang="en-US" sz="1400" dirty="0"/>
          </a:p>
          <a:p>
            <a:pPr marL="342900" indent="-342900">
              <a:buSzPct val="100000"/>
              <a:buChar char="•"/>
            </a:pPr>
            <a:r>
              <a:rPr lang="en-US" sz="1400" dirty="0">
                <a:solidFill>
                  <a:srgbClr val="1F2A36"/>
                </a:solidFill>
                <a:latin typeface="Arial" pitchFamily="34" charset="0"/>
                <a:ea typeface="Arial" pitchFamily="34" charset="-122"/>
                <a:cs typeface="Arial" pitchFamily="34" charset="-120"/>
              </a:rPr>
              <a:t>Design a library in the Design Studio (Level 3)</a:t>
            </a:r>
            <a:endParaRPr lang="en-US" sz="1400" dirty="0"/>
          </a:p>
        </p:txBody>
      </p:sp>
      <p:pic>
        <p:nvPicPr>
          <p:cNvPr id="5" name="Image 0" descr="/home/jdca/Documents/Commercial Software Engineering/learning-platform/node_modules/.cache/docs/y1-t1-m3-db-w1-en-er-store.png">    </p:cNvPr>
          <p:cNvPicPr>
            <a:picLocks noChangeAspect="1"/>
          </p:cNvPicPr>
          <p:nvPr/>
        </p:nvPicPr>
        <p:blipFill>
          <a:blip r:embed="rId1"/>
          <a:stretch>
            <a:fillRect/>
          </a:stretch>
        </p:blipFill>
        <p:spPr>
          <a:xfrm>
            <a:off x="6309360" y="1280160"/>
            <a:ext cx="5394960" cy="2340864"/>
          </a:xfrm>
          <a:prstGeom prst="rect">
            <a:avLst/>
          </a:prstGeom>
        </p:spPr>
      </p:pic>
      <p:sp>
        <p:nvSpPr>
          <p:cNvPr id="6" name="Text 3"/>
          <p:cNvSpPr/>
          <p:nvPr/>
        </p:nvSpPr>
        <p:spPr>
          <a:xfrm>
            <a:off x="6309360" y="3840480"/>
            <a:ext cx="5486400" cy="365760"/>
          </a:xfrm>
          <a:prstGeom prst="rect">
            <a:avLst/>
          </a:prstGeom>
          <a:noFill/>
          <a:ln/>
        </p:spPr>
        <p:txBody>
          <a:bodyPr wrap="square" rtlCol="0" anchor="ctr"/>
          <a:lstStyle/>
          <a:p>
            <a:pPr indent="0" marL="0">
              <a:buNone/>
            </a:pPr>
            <a:r>
              <a:rPr lang="en-US" sz="1500" b="1" dirty="0">
                <a:solidFill>
                  <a:srgbClr val="C0704F"/>
                </a:solidFill>
                <a:latin typeface="Arial" pitchFamily="34" charset="0"/>
                <a:ea typeface="Arial" pitchFamily="34" charset="-122"/>
                <a:cs typeface="Arial" pitchFamily="34" charset="-120"/>
              </a:rPr>
              <a:t>Subject tools</a:t>
            </a:r>
            <a:endParaRPr lang="en-US" sz="1500" dirty="0"/>
          </a:p>
        </p:txBody>
      </p:sp>
      <p:sp>
        <p:nvSpPr>
          <p:cNvPr id="7" name="Text 4"/>
          <p:cNvSpPr/>
          <p:nvPr/>
        </p:nvSpPr>
        <p:spPr>
          <a:xfrm>
            <a:off x="6309360" y="4206240"/>
            <a:ext cx="5486400" cy="457200"/>
          </a:xfrm>
          <a:prstGeom prst="rect">
            <a:avLst/>
          </a:prstGeom>
          <a:noFill/>
          <a:ln/>
        </p:spPr>
        <p:txBody>
          <a:bodyPr wrap="square" rtlCol="0" anchor="ctr"/>
          <a:lstStyle/>
          <a:p>
            <a:pPr indent="0" marL="0">
              <a:buNone/>
            </a:pPr>
            <a:r>
              <a:rPr lang="en-US" sz="1300" dirty="0">
                <a:solidFill>
                  <a:srgbClr val="1F2A36"/>
                </a:solidFill>
                <a:latin typeface="Courier New" pitchFamily="34" charset="0"/>
                <a:ea typeface="Courier New" pitchFamily="34" charset="-122"/>
                <a:cs typeface="Courier New" pitchFamily="34" charset="-120"/>
              </a:rPr>
              <a:t>SQL Lab · Design Studio · draw.io</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F6F73"/>
        </a:solidFill>
      </p:bgPr>
    </p:bg>
    <p:spTree>
      <p:nvGrpSpPr>
        <p:cNvPr id="1" name=""/>
        <p:cNvGrpSpPr/>
        <p:nvPr/>
      </p:nvGrpSpPr>
      <p:grpSpPr>
        <a:xfrm>
          <a:off x="0" y="0"/>
          <a:ext cx="0" cy="0"/>
          <a:chOff x="0" y="0"/>
          <a:chExt cx="0" cy="0"/>
        </a:xfrm>
      </p:grpSpPr>
      <p:sp>
        <p:nvSpPr>
          <p:cNvPr id="2" name="Text 0"/>
          <p:cNvSpPr/>
          <p:nvPr/>
        </p:nvSpPr>
        <p:spPr>
          <a:xfrm>
            <a:off x="731520" y="2011680"/>
            <a:ext cx="10515600" cy="1097280"/>
          </a:xfrm>
          <a:prstGeom prst="rect">
            <a:avLst/>
          </a:prstGeom>
          <a:noFill/>
          <a:ln/>
        </p:spPr>
        <p:txBody>
          <a:bodyPr wrap="square" rtlCol="0" anchor="ctr"/>
          <a:lstStyle/>
          <a:p>
            <a:pPr indent="0" marL="0">
              <a:buNone/>
            </a:pPr>
            <a:r>
              <a:rPr lang="en-US" sz="4000" b="1" dirty="0">
                <a:solidFill>
                  <a:srgbClr val="FFFDF8"/>
                </a:solidFill>
                <a:latin typeface="Arial" pitchFamily="34" charset="0"/>
                <a:ea typeface="Arial" pitchFamily="34" charset="-122"/>
                <a:cs typeface="Arial" pitchFamily="34" charset="-120"/>
              </a:rPr>
              <a:t>Keep going</a:t>
            </a:r>
            <a:endParaRPr lang="en-US" sz="4000" dirty="0"/>
          </a:p>
        </p:txBody>
      </p:sp>
      <p:sp>
        <p:nvSpPr>
          <p:cNvPr id="3" name="Text 1"/>
          <p:cNvSpPr/>
          <p:nvPr/>
        </p:nvSpPr>
        <p:spPr>
          <a:xfrm>
            <a:off x="731520" y="3200400"/>
            <a:ext cx="9601200" cy="1463040"/>
          </a:xfrm>
          <a:prstGeom prst="rect">
            <a:avLst/>
          </a:prstGeom>
          <a:noFill/>
          <a:ln/>
        </p:spPr>
        <p:txBody>
          <a:bodyPr wrap="square" rtlCol="0" anchor="t"/>
          <a:lstStyle/>
          <a:p>
            <a:pPr indent="0" marL="0">
              <a:buNone/>
            </a:pPr>
            <a:r>
              <a:rPr lang="en-US" sz="1800" dirty="0">
                <a:solidFill>
                  <a:srgbClr val="FFFDF8"/>
                </a:solidFill>
                <a:latin typeface="Arial" pitchFamily="34" charset="0"/>
                <a:ea typeface="Arial" pitchFamily="34" charset="-122"/>
                <a:cs typeface="Arial" pitchFamily="34" charset="-120"/>
              </a:rPr>
              <a:t>Review your flashcards when they are due, use the subject's tools, and retake the quiz until you score 80% or more.</a:t>
            </a:r>
            <a:endParaRPr lang="en-US" sz="1800" dirty="0"/>
          </a:p>
        </p:txBody>
      </p:sp>
      <p:sp>
        <p:nvSpPr>
          <p:cNvPr id="4" name="Text 2"/>
          <p:cNvSpPr/>
          <p:nvPr/>
        </p:nvSpPr>
        <p:spPr>
          <a:xfrm>
            <a:off x="731520" y="6035040"/>
            <a:ext cx="10058400" cy="365760"/>
          </a:xfrm>
          <a:prstGeom prst="rect">
            <a:avLst/>
          </a:prstGeom>
          <a:noFill/>
          <a:ln/>
        </p:spPr>
        <p:txBody>
          <a:bodyPr wrap="square" rtlCol="0" anchor="ctr"/>
          <a:lstStyle/>
          <a:p>
            <a:pPr indent="0" marL="0">
              <a:buNone/>
            </a:pPr>
            <a:r>
              <a:rPr lang="en-US" sz="1000" i="1" dirty="0">
                <a:solidFill>
                  <a:srgbClr val="DDE8E6"/>
                </a:solidFill>
                <a:latin typeface="Arial" pitchFamily="34" charset="0"/>
                <a:ea typeface="Arial" pitchFamily="34" charset="-122"/>
                <a:cs typeface="Arial" pitchFamily="34" charset="-120"/>
              </a:rPr>
              <a:t>SE Study Lab · Study material</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management systems · SE Study Lab</dc:title>
  <dc:subject>PptxGenJS Presentation</dc:subject>
  <dc:creator>PptxGenJS</dc:creator>
  <cp:lastModifiedBy>PptxGenJS</cp:lastModifiedBy>
  <cp:revision>1</cp:revision>
  <dcterms:created xsi:type="dcterms:W3CDTF">2026-10-28T23:19:39Z</dcterms:created>
  <dcterms:modified xsi:type="dcterms:W3CDTF">2026-10-28T23:19:39Z</dcterms:modified>
</cp:coreProperties>
</file>